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mo Bold" charset="1" panose="020B0704020202020204"/>
      <p:regular r:id="rId18"/>
    </p:embeddedFont>
    <p:embeddedFont>
      <p:font typeface="Open Sans" charset="1" panose="020B0606030504020204"/>
      <p:regular r:id="rId19"/>
    </p:embeddedFont>
    <p:embeddedFont>
      <p:font typeface="Open Sans Bold" charset="1" panose="020B0806030504020204"/>
      <p:regular r:id="rId20"/>
    </p:embeddedFont>
    <p:embeddedFont>
      <p:font typeface="Roboto" charset="1" panose="02000000000000000000"/>
      <p:regular r:id="rId21"/>
    </p:embeddedFont>
    <p:embeddedFont>
      <p:font typeface="Calibri (MS) Bold" charset="1" panose="020F070203040403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0E1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456476"/>
          </a:xfrm>
          <a:custGeom>
            <a:avLst/>
            <a:gdLst/>
            <a:ahLst/>
            <a:cxnLst/>
            <a:rect r="r" b="b" t="t" l="l"/>
            <a:pathLst>
              <a:path h="456476" w="18287276">
                <a:moveTo>
                  <a:pt x="0" y="0"/>
                </a:moveTo>
                <a:lnTo>
                  <a:pt x="18287276" y="0"/>
                </a:lnTo>
                <a:lnTo>
                  <a:pt x="18287276" y="456476"/>
                </a:lnTo>
                <a:lnTo>
                  <a:pt x="0" y="456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886562" y="563042"/>
            <a:ext cx="10514876" cy="5130701"/>
            <a:chOff x="0" y="0"/>
            <a:chExt cx="14019835" cy="6840934"/>
          </a:xfrm>
        </p:grpSpPr>
        <p:sp>
          <p:nvSpPr>
            <p:cNvPr name="Freeform 4" id="4"/>
            <p:cNvSpPr/>
            <p:nvPr/>
          </p:nvSpPr>
          <p:spPr>
            <a:xfrm flipH="false" flipV="false" rot="0">
              <a:off x="0" y="0"/>
              <a:ext cx="14019840" cy="6840937"/>
            </a:xfrm>
            <a:custGeom>
              <a:avLst/>
              <a:gdLst/>
              <a:ahLst/>
              <a:cxnLst/>
              <a:rect r="r" b="b" t="t" l="l"/>
              <a:pathLst>
                <a:path h="6840937" w="14019840">
                  <a:moveTo>
                    <a:pt x="0" y="0"/>
                  </a:moveTo>
                  <a:lnTo>
                    <a:pt x="14019840" y="0"/>
                  </a:lnTo>
                  <a:lnTo>
                    <a:pt x="14019840" y="6840937"/>
                  </a:lnTo>
                  <a:lnTo>
                    <a:pt x="0" y="6840937"/>
                  </a:lnTo>
                  <a:close/>
                </a:path>
              </a:pathLst>
            </a:custGeom>
            <a:blipFill>
              <a:blip r:embed="rId4">
                <a:alphaModFix amt="0"/>
              </a:blip>
              <a:stretch>
                <a:fillRect l="-8572" t="0" r="-8572" b="6440"/>
              </a:stretch>
            </a:blipFill>
          </p:spPr>
        </p:sp>
        <p:sp>
          <p:nvSpPr>
            <p:cNvPr name="TextBox 5" id="5"/>
            <p:cNvSpPr txBox="true"/>
            <p:nvPr/>
          </p:nvSpPr>
          <p:spPr>
            <a:xfrm>
              <a:off x="0" y="-47625"/>
              <a:ext cx="14019835" cy="6888559"/>
            </a:xfrm>
            <a:prstGeom prst="rect">
              <a:avLst/>
            </a:prstGeom>
          </p:spPr>
          <p:txBody>
            <a:bodyPr anchor="b" rtlCol="false" tIns="0" lIns="0" bIns="0" rIns="0"/>
            <a:lstStyle/>
            <a:p>
              <a:pPr algn="ctr">
                <a:lnSpc>
                  <a:spcPts val="17280"/>
                </a:lnSpc>
              </a:pPr>
              <a:r>
                <a:rPr lang="en-US" sz="14400" b="true">
                  <a:solidFill>
                    <a:srgbClr val="FFFFFF"/>
                  </a:solidFill>
                  <a:latin typeface="Arimo Bold"/>
                  <a:ea typeface="Arimo Bold"/>
                  <a:cs typeface="Arimo Bold"/>
                  <a:sym typeface="Arimo Bold"/>
                </a:rPr>
                <a:t>Dungeon Crawler</a:t>
              </a:r>
            </a:p>
          </p:txBody>
        </p:sp>
      </p:grpSp>
      <p:sp>
        <p:nvSpPr>
          <p:cNvPr name="AutoShape 6" id="6"/>
          <p:cNvSpPr/>
          <p:nvPr/>
        </p:nvSpPr>
        <p:spPr>
          <a:xfrm rot="3720">
            <a:off x="-9535" y="909999"/>
            <a:ext cx="18307783" cy="0"/>
          </a:xfrm>
          <a:prstGeom prst="line">
            <a:avLst/>
          </a:prstGeom>
          <a:ln cap="rnd" w="9525">
            <a:solidFill>
              <a:srgbClr val="FFFFFF"/>
            </a:solidFill>
            <a:prstDash val="solid"/>
            <a:headEnd type="none" len="sm" w="sm"/>
            <a:tailEnd type="none" len="sm" w="sm"/>
          </a:ln>
        </p:spPr>
      </p:sp>
      <p:grpSp>
        <p:nvGrpSpPr>
          <p:cNvPr name="Group 7" id="7"/>
          <p:cNvGrpSpPr/>
          <p:nvPr/>
        </p:nvGrpSpPr>
        <p:grpSpPr>
          <a:xfrm rot="0">
            <a:off x="8143923" y="563042"/>
            <a:ext cx="1999440" cy="341815"/>
            <a:chOff x="0" y="0"/>
            <a:chExt cx="2665920" cy="455753"/>
          </a:xfrm>
        </p:grpSpPr>
        <p:sp>
          <p:nvSpPr>
            <p:cNvPr name="Freeform 8" id="8"/>
            <p:cNvSpPr/>
            <p:nvPr/>
          </p:nvSpPr>
          <p:spPr>
            <a:xfrm flipH="false" flipV="false" rot="0">
              <a:off x="0" y="0"/>
              <a:ext cx="2665920" cy="455758"/>
            </a:xfrm>
            <a:custGeom>
              <a:avLst/>
              <a:gdLst/>
              <a:ahLst/>
              <a:cxnLst/>
              <a:rect r="r" b="b" t="t" l="l"/>
              <a:pathLst>
                <a:path h="455758" w="2665920">
                  <a:moveTo>
                    <a:pt x="0" y="0"/>
                  </a:moveTo>
                  <a:lnTo>
                    <a:pt x="2665920" y="0"/>
                  </a:lnTo>
                  <a:lnTo>
                    <a:pt x="2665920" y="455758"/>
                  </a:lnTo>
                  <a:lnTo>
                    <a:pt x="0" y="455758"/>
                  </a:lnTo>
                  <a:close/>
                </a:path>
              </a:pathLst>
            </a:custGeom>
            <a:blipFill>
              <a:blip r:embed="rId4">
                <a:alphaModFix amt="0"/>
              </a:blip>
              <a:stretch>
                <a:fillRect l="0" t="-78062" r="0" b="-49889"/>
              </a:stretch>
            </a:blipFill>
          </p:spPr>
        </p:sp>
        <p:sp>
          <p:nvSpPr>
            <p:cNvPr name="TextBox 9" id="9"/>
            <p:cNvSpPr txBox="true"/>
            <p:nvPr/>
          </p:nvSpPr>
          <p:spPr>
            <a:xfrm>
              <a:off x="0" y="-19050"/>
              <a:ext cx="2665920" cy="474803"/>
            </a:xfrm>
            <a:prstGeom prst="rect">
              <a:avLst/>
            </a:prstGeom>
          </p:spPr>
          <p:txBody>
            <a:bodyPr anchor="ctr" rtlCol="false" tIns="0" lIns="0" bIns="0" rIns="0"/>
            <a:lstStyle/>
            <a:p>
              <a:pPr algn="ctr">
                <a:lnSpc>
                  <a:spcPts val="1920"/>
                </a:lnSpc>
              </a:pPr>
              <a:r>
                <a:rPr lang="en-US" sz="1600" b="true">
                  <a:solidFill>
                    <a:srgbClr val="FFFFFF"/>
                  </a:solidFill>
                  <a:latin typeface="Arimo Bold"/>
                  <a:ea typeface="Arimo Bold"/>
                  <a:cs typeface="Arimo Bold"/>
                  <a:sym typeface="Arimo Bold"/>
                </a:rPr>
                <a:t>1</a:t>
              </a:r>
            </a:p>
          </p:txBody>
        </p:sp>
      </p:grpSp>
      <p:sp>
        <p:nvSpPr>
          <p:cNvPr name="TextBox 10" id="10"/>
          <p:cNvSpPr txBox="true"/>
          <p:nvPr/>
        </p:nvSpPr>
        <p:spPr>
          <a:xfrm rot="0">
            <a:off x="3835757" y="5484519"/>
            <a:ext cx="10615761" cy="5803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A Java terminal game: explore, fight,</a:t>
            </a:r>
            <a:r>
              <a:rPr lang="en-US" sz="3399">
                <a:solidFill>
                  <a:srgbClr val="FFFFFF"/>
                </a:solidFill>
                <a:latin typeface="Open Sans"/>
                <a:ea typeface="Open Sans"/>
                <a:cs typeface="Open Sans"/>
                <a:sym typeface="Open Sans"/>
              </a:rPr>
              <a:t> loot, and escape</a:t>
            </a:r>
          </a:p>
        </p:txBody>
      </p:sp>
      <p:sp>
        <p:nvSpPr>
          <p:cNvPr name="TextBox 11" id="11"/>
          <p:cNvSpPr txBox="true"/>
          <p:nvPr/>
        </p:nvSpPr>
        <p:spPr>
          <a:xfrm rot="0">
            <a:off x="5354874" y="6264139"/>
            <a:ext cx="7578252" cy="3658870"/>
          </a:xfrm>
          <a:prstGeom prst="rect">
            <a:avLst/>
          </a:prstGeom>
        </p:spPr>
        <p:txBody>
          <a:bodyPr anchor="t" rtlCol="false" tIns="0" lIns="0" bIns="0" rIns="0">
            <a:spAutoFit/>
          </a:bodyPr>
          <a:lstStyle/>
          <a:p>
            <a:pPr algn="ctr">
              <a:lnSpc>
                <a:spcPts val="7279"/>
              </a:lnSpc>
            </a:pPr>
            <a:r>
              <a:rPr lang="en-US" sz="5199" b="true">
                <a:solidFill>
                  <a:srgbClr val="FFFFFF"/>
                </a:solidFill>
                <a:latin typeface="Open Sans Bold"/>
                <a:ea typeface="Open Sans Bold"/>
                <a:cs typeface="Open Sans Bold"/>
                <a:sym typeface="Open Sans Bold"/>
              </a:rPr>
              <a:t>Sabuhi GARIBOV</a:t>
            </a:r>
          </a:p>
          <a:p>
            <a:pPr algn="ctr">
              <a:lnSpc>
                <a:spcPts val="7279"/>
              </a:lnSpc>
            </a:pPr>
            <a:r>
              <a:rPr lang="en-US" sz="5199" b="true">
                <a:solidFill>
                  <a:srgbClr val="FFFFFF"/>
                </a:solidFill>
                <a:latin typeface="Open Sans Bold"/>
                <a:ea typeface="Open Sans Bold"/>
                <a:cs typeface="Open Sans Bold"/>
                <a:sym typeface="Open Sans Bold"/>
              </a:rPr>
              <a:t>Yusif KHALAFLI</a:t>
            </a:r>
          </a:p>
          <a:p>
            <a:pPr algn="ctr">
              <a:lnSpc>
                <a:spcPts val="7279"/>
              </a:lnSpc>
            </a:pPr>
            <a:r>
              <a:rPr lang="en-US" sz="5199" b="true">
                <a:solidFill>
                  <a:srgbClr val="FFFFFF"/>
                </a:solidFill>
                <a:latin typeface="Open Sans Bold"/>
                <a:ea typeface="Open Sans Bold"/>
                <a:cs typeface="Open Sans Bold"/>
                <a:sym typeface="Open Sans Bold"/>
              </a:rPr>
              <a:t>Famil GULMMAMADOV</a:t>
            </a:r>
          </a:p>
          <a:p>
            <a:pPr algn="ctr">
              <a:lnSpc>
                <a:spcPts val="7279"/>
              </a:lnSpc>
            </a:pPr>
            <a:r>
              <a:rPr lang="en-US" sz="5199" b="true">
                <a:solidFill>
                  <a:srgbClr val="FFFFFF"/>
                </a:solidFill>
                <a:latin typeface="Open Sans Bold"/>
                <a:ea typeface="Open Sans Bold"/>
                <a:cs typeface="Open Sans Bold"/>
                <a:sym typeface="Open Sans Bold"/>
              </a:rPr>
              <a:t>Daniil KUCHINSKI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0E1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456476"/>
          </a:xfrm>
          <a:custGeom>
            <a:avLst/>
            <a:gdLst/>
            <a:ahLst/>
            <a:cxnLst/>
            <a:rect r="r" b="b" t="t" l="l"/>
            <a:pathLst>
              <a:path h="456476" w="18287276">
                <a:moveTo>
                  <a:pt x="0" y="0"/>
                </a:moveTo>
                <a:lnTo>
                  <a:pt x="18287276" y="0"/>
                </a:lnTo>
                <a:lnTo>
                  <a:pt x="18287276" y="456476"/>
                </a:lnTo>
                <a:lnTo>
                  <a:pt x="0" y="456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29923" y="6797192"/>
            <a:ext cx="17208722" cy="1130732"/>
          </a:xfrm>
          <a:prstGeom prst="rect">
            <a:avLst/>
          </a:prstGeom>
        </p:spPr>
        <p:txBody>
          <a:bodyPr anchor="t" rtlCol="false" tIns="0" lIns="0" bIns="0" rIns="0">
            <a:spAutoFit/>
          </a:bodyPr>
          <a:lstStyle/>
          <a:p>
            <a:pPr algn="l">
              <a:lnSpc>
                <a:spcPts val="6240"/>
              </a:lnSpc>
            </a:pPr>
            <a:r>
              <a:rPr lang="en-US" sz="5200" b="true">
                <a:solidFill>
                  <a:srgbClr val="FFFFFF"/>
                </a:solidFill>
                <a:latin typeface="Arimo Bold"/>
                <a:ea typeface="Arimo Bold"/>
                <a:cs typeface="Arimo Bold"/>
                <a:sym typeface="Arimo Bold"/>
              </a:rPr>
              <a:t>Introduction</a:t>
            </a:r>
          </a:p>
        </p:txBody>
      </p:sp>
      <p:grpSp>
        <p:nvGrpSpPr>
          <p:cNvPr name="Group 4" id="4"/>
          <p:cNvGrpSpPr/>
          <p:nvPr/>
        </p:nvGrpSpPr>
        <p:grpSpPr>
          <a:xfrm rot="0">
            <a:off x="457200" y="7185244"/>
            <a:ext cx="17391602" cy="1485360"/>
            <a:chOff x="0" y="0"/>
            <a:chExt cx="23188803" cy="1980480"/>
          </a:xfrm>
        </p:grpSpPr>
        <p:sp>
          <p:nvSpPr>
            <p:cNvPr name="Freeform 5" id="5"/>
            <p:cNvSpPr/>
            <p:nvPr/>
          </p:nvSpPr>
          <p:spPr>
            <a:xfrm flipH="false" flipV="false" rot="0">
              <a:off x="0" y="0"/>
              <a:ext cx="23188800" cy="1980484"/>
            </a:xfrm>
            <a:custGeom>
              <a:avLst/>
              <a:gdLst/>
              <a:ahLst/>
              <a:cxnLst/>
              <a:rect r="r" b="b" t="t" l="l"/>
              <a:pathLst>
                <a:path h="1980484" w="23188800">
                  <a:moveTo>
                    <a:pt x="0" y="0"/>
                  </a:moveTo>
                  <a:lnTo>
                    <a:pt x="23188800" y="0"/>
                  </a:lnTo>
                  <a:lnTo>
                    <a:pt x="23188800" y="1980484"/>
                  </a:lnTo>
                  <a:lnTo>
                    <a:pt x="0" y="1980484"/>
                  </a:lnTo>
                  <a:close/>
                </a:path>
              </a:pathLst>
            </a:custGeom>
            <a:blipFill>
              <a:blip r:embed="rId4">
                <a:alphaModFix amt="0"/>
              </a:blip>
              <a:stretch>
                <a:fillRect l="0" t="-178143" r="0" b="-178143"/>
              </a:stretch>
            </a:blipFill>
          </p:spPr>
        </p:sp>
        <p:sp>
          <p:nvSpPr>
            <p:cNvPr name="TextBox 6" id="6"/>
            <p:cNvSpPr txBox="true"/>
            <p:nvPr/>
          </p:nvSpPr>
          <p:spPr>
            <a:xfrm>
              <a:off x="0" y="-85725"/>
              <a:ext cx="23188803" cy="2066205"/>
            </a:xfrm>
            <a:prstGeom prst="rect">
              <a:avLst/>
            </a:prstGeom>
          </p:spPr>
          <p:txBody>
            <a:bodyPr anchor="b" rtlCol="false" tIns="0" lIns="0" bIns="0" rIns="0"/>
            <a:lstStyle/>
            <a:p>
              <a:pPr algn="l">
                <a:lnSpc>
                  <a:spcPts val="4406"/>
                </a:lnSpc>
              </a:pPr>
              <a:r>
                <a:rPr lang="en-US" sz="3059">
                  <a:solidFill>
                    <a:srgbClr val="FFFFFF"/>
                  </a:solidFill>
                  <a:latin typeface="Roboto"/>
                  <a:ea typeface="Roboto"/>
                  <a:cs typeface="Roboto"/>
                  <a:sym typeface="Roboto"/>
                </a:rPr>
                <a:t>Navigate mazes, face enemies, open chests, and find the exit while managing resources and risk.</a:t>
              </a:r>
            </a:p>
          </p:txBody>
        </p:sp>
      </p:grpSp>
      <p:sp>
        <p:nvSpPr>
          <p:cNvPr name="AutoShape 7" id="7"/>
          <p:cNvSpPr/>
          <p:nvPr/>
        </p:nvSpPr>
        <p:spPr>
          <a:xfrm rot="3720">
            <a:off x="-9535" y="8017116"/>
            <a:ext cx="18307783" cy="0"/>
          </a:xfrm>
          <a:prstGeom prst="line">
            <a:avLst/>
          </a:prstGeom>
          <a:ln cap="rnd" w="9525">
            <a:solidFill>
              <a:srgbClr val="FFFFFF"/>
            </a:solidFill>
            <a:prstDash val="solid"/>
            <a:headEnd type="none" len="sm" w="sm"/>
            <a:tailEnd type="none" len="sm" w="sm"/>
          </a:ln>
        </p:spPr>
      </p:sp>
      <p:sp>
        <p:nvSpPr>
          <p:cNvPr name="Freeform 8" id="8"/>
          <p:cNvSpPr/>
          <p:nvPr/>
        </p:nvSpPr>
        <p:spPr>
          <a:xfrm flipH="false" flipV="false" rot="0">
            <a:off x="4596612" y="1155672"/>
            <a:ext cx="9075345" cy="5584370"/>
          </a:xfrm>
          <a:custGeom>
            <a:avLst/>
            <a:gdLst/>
            <a:ahLst/>
            <a:cxnLst/>
            <a:rect r="r" b="b" t="t" l="l"/>
            <a:pathLst>
              <a:path h="5584370" w="9075345">
                <a:moveTo>
                  <a:pt x="0" y="0"/>
                </a:moveTo>
                <a:lnTo>
                  <a:pt x="9075345" y="0"/>
                </a:lnTo>
                <a:lnTo>
                  <a:pt x="9075345" y="5584370"/>
                </a:lnTo>
                <a:lnTo>
                  <a:pt x="0" y="5584370"/>
                </a:lnTo>
                <a:lnTo>
                  <a:pt x="0" y="0"/>
                </a:lnTo>
                <a:close/>
              </a:path>
            </a:pathLst>
          </a:custGeom>
          <a:blipFill>
            <a:blip r:embed="rId5"/>
            <a:stretch>
              <a:fillRect l="0" t="-418" r="0" b="-418"/>
            </a:stretch>
          </a:blipFill>
        </p:spPr>
      </p:sp>
      <p:sp>
        <p:nvSpPr>
          <p:cNvPr name="AutoShape 9" id="9"/>
          <p:cNvSpPr/>
          <p:nvPr/>
        </p:nvSpPr>
        <p:spPr>
          <a:xfrm rot="3719">
            <a:off x="-9535" y="909999"/>
            <a:ext cx="18307783" cy="0"/>
          </a:xfrm>
          <a:prstGeom prst="line">
            <a:avLst/>
          </a:prstGeom>
          <a:ln cap="rnd" w="9525">
            <a:solidFill>
              <a:srgbClr val="FFFFFF"/>
            </a:solidFill>
            <a:prstDash val="solid"/>
            <a:headEnd type="none" len="sm" w="sm"/>
            <a:tailEnd type="none" len="sm" w="sm"/>
          </a:ln>
        </p:spPr>
      </p:sp>
      <p:grpSp>
        <p:nvGrpSpPr>
          <p:cNvPr name="Group 10" id="10"/>
          <p:cNvGrpSpPr/>
          <p:nvPr/>
        </p:nvGrpSpPr>
        <p:grpSpPr>
          <a:xfrm rot="0">
            <a:off x="8143923" y="563042"/>
            <a:ext cx="1999440" cy="341815"/>
            <a:chOff x="0" y="0"/>
            <a:chExt cx="2665920" cy="455753"/>
          </a:xfrm>
        </p:grpSpPr>
        <p:sp>
          <p:nvSpPr>
            <p:cNvPr name="Freeform 11" id="11"/>
            <p:cNvSpPr/>
            <p:nvPr/>
          </p:nvSpPr>
          <p:spPr>
            <a:xfrm flipH="false" flipV="false" rot="0">
              <a:off x="0" y="0"/>
              <a:ext cx="2665920" cy="455758"/>
            </a:xfrm>
            <a:custGeom>
              <a:avLst/>
              <a:gdLst/>
              <a:ahLst/>
              <a:cxnLst/>
              <a:rect r="r" b="b" t="t" l="l"/>
              <a:pathLst>
                <a:path h="455758" w="2665920">
                  <a:moveTo>
                    <a:pt x="0" y="0"/>
                  </a:moveTo>
                  <a:lnTo>
                    <a:pt x="2665920" y="0"/>
                  </a:lnTo>
                  <a:lnTo>
                    <a:pt x="2665920" y="455758"/>
                  </a:lnTo>
                  <a:lnTo>
                    <a:pt x="0" y="455758"/>
                  </a:lnTo>
                  <a:close/>
                </a:path>
              </a:pathLst>
            </a:custGeom>
            <a:blipFill>
              <a:blip r:embed="rId4">
                <a:alphaModFix amt="0"/>
              </a:blip>
              <a:stretch>
                <a:fillRect l="0" t="-78062" r="0" b="-49889"/>
              </a:stretch>
            </a:blipFill>
          </p:spPr>
        </p:sp>
        <p:sp>
          <p:nvSpPr>
            <p:cNvPr name="TextBox 12" id="12"/>
            <p:cNvSpPr txBox="true"/>
            <p:nvPr/>
          </p:nvSpPr>
          <p:spPr>
            <a:xfrm>
              <a:off x="0" y="-19050"/>
              <a:ext cx="2665920" cy="474803"/>
            </a:xfrm>
            <a:prstGeom prst="rect">
              <a:avLst/>
            </a:prstGeom>
          </p:spPr>
          <p:txBody>
            <a:bodyPr anchor="ctr" rtlCol="false" tIns="0" lIns="0" bIns="0" rIns="0"/>
            <a:lstStyle/>
            <a:p>
              <a:pPr algn="ctr">
                <a:lnSpc>
                  <a:spcPts val="1920"/>
                </a:lnSpc>
              </a:pPr>
              <a:r>
                <a:rPr lang="en-US" sz="1600" b="true">
                  <a:solidFill>
                    <a:srgbClr val="FFFFFF"/>
                  </a:solidFill>
                  <a:latin typeface="Arimo Bold"/>
                  <a:ea typeface="Arimo Bold"/>
                  <a:cs typeface="Arimo Bold"/>
                  <a:sym typeface="Arimo Bold"/>
                </a:rPr>
                <a:t>2</a:t>
              </a:r>
            </a:p>
          </p:txBody>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0E1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456476"/>
          </a:xfrm>
          <a:custGeom>
            <a:avLst/>
            <a:gdLst/>
            <a:ahLst/>
            <a:cxnLst/>
            <a:rect r="r" b="b" t="t" l="l"/>
            <a:pathLst>
              <a:path h="456476" w="18287276">
                <a:moveTo>
                  <a:pt x="0" y="0"/>
                </a:moveTo>
                <a:lnTo>
                  <a:pt x="18287276" y="0"/>
                </a:lnTo>
                <a:lnTo>
                  <a:pt x="18287276" y="456476"/>
                </a:lnTo>
                <a:lnTo>
                  <a:pt x="0" y="456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96579"/>
            <a:ext cx="4388396" cy="2012985"/>
          </a:xfrm>
          <a:prstGeom prst="rect">
            <a:avLst/>
          </a:prstGeom>
        </p:spPr>
        <p:txBody>
          <a:bodyPr anchor="t" rtlCol="false" tIns="0" lIns="0" bIns="0" rIns="0">
            <a:spAutoFit/>
          </a:bodyPr>
          <a:lstStyle/>
          <a:p>
            <a:pPr algn="l">
              <a:lnSpc>
                <a:spcPts val="11999"/>
              </a:lnSpc>
            </a:pPr>
            <a:r>
              <a:rPr lang="en-US" sz="9999" b="true">
                <a:solidFill>
                  <a:srgbClr val="FFFFFF"/>
                </a:solidFill>
                <a:latin typeface="Calibri (MS) Bold"/>
                <a:ea typeface="Calibri (MS) Bold"/>
                <a:cs typeface="Calibri (MS) Bold"/>
                <a:sym typeface="Calibri (MS) Bold"/>
              </a:rPr>
              <a:t>01</a:t>
            </a:r>
          </a:p>
        </p:txBody>
      </p:sp>
      <p:sp>
        <p:nvSpPr>
          <p:cNvPr name="TextBox 4" id="4"/>
          <p:cNvSpPr txBox="true"/>
          <p:nvPr/>
        </p:nvSpPr>
        <p:spPr>
          <a:xfrm rot="0">
            <a:off x="1028700" y="2442889"/>
            <a:ext cx="14051700" cy="5574636"/>
          </a:xfrm>
          <a:prstGeom prst="rect">
            <a:avLst/>
          </a:prstGeom>
        </p:spPr>
        <p:txBody>
          <a:bodyPr anchor="t" rtlCol="false" tIns="0" lIns="0" bIns="0" rIns="0">
            <a:spAutoFit/>
          </a:bodyPr>
          <a:lstStyle/>
          <a:p>
            <a:pPr algn="l">
              <a:lnSpc>
                <a:spcPts val="19119"/>
              </a:lnSpc>
            </a:pPr>
            <a:r>
              <a:rPr lang="en-US" sz="15933" b="true">
                <a:solidFill>
                  <a:srgbClr val="FFFFFF"/>
                </a:solidFill>
                <a:latin typeface="Arimo Bold"/>
                <a:ea typeface="Arimo Bold"/>
                <a:cs typeface="Arimo Bold"/>
                <a:sym typeface="Arimo Bold"/>
              </a:rPr>
              <a:t>Game Overview</a:t>
            </a:r>
          </a:p>
        </p:txBody>
      </p:sp>
      <p:sp>
        <p:nvSpPr>
          <p:cNvPr name="AutoShape 5" id="5"/>
          <p:cNvSpPr/>
          <p:nvPr/>
        </p:nvSpPr>
        <p:spPr>
          <a:xfrm rot="3719">
            <a:off x="-9535" y="909999"/>
            <a:ext cx="18307783" cy="0"/>
          </a:xfrm>
          <a:prstGeom prst="line">
            <a:avLst/>
          </a:prstGeom>
          <a:ln cap="rnd" w="9525">
            <a:solidFill>
              <a:srgbClr val="FFFFFF"/>
            </a:solidFill>
            <a:prstDash val="solid"/>
            <a:headEnd type="none" len="sm" w="sm"/>
            <a:tailEnd type="none" len="sm" w="sm"/>
          </a:ln>
        </p:spPr>
      </p:sp>
      <p:grpSp>
        <p:nvGrpSpPr>
          <p:cNvPr name="Group 6" id="6"/>
          <p:cNvGrpSpPr/>
          <p:nvPr/>
        </p:nvGrpSpPr>
        <p:grpSpPr>
          <a:xfrm rot="0">
            <a:off x="8143923" y="563042"/>
            <a:ext cx="1999440" cy="341815"/>
            <a:chOff x="0" y="0"/>
            <a:chExt cx="2665920" cy="455753"/>
          </a:xfrm>
        </p:grpSpPr>
        <p:sp>
          <p:nvSpPr>
            <p:cNvPr name="Freeform 7" id="7"/>
            <p:cNvSpPr/>
            <p:nvPr/>
          </p:nvSpPr>
          <p:spPr>
            <a:xfrm flipH="false" flipV="false" rot="0">
              <a:off x="0" y="0"/>
              <a:ext cx="2665920" cy="455758"/>
            </a:xfrm>
            <a:custGeom>
              <a:avLst/>
              <a:gdLst/>
              <a:ahLst/>
              <a:cxnLst/>
              <a:rect r="r" b="b" t="t" l="l"/>
              <a:pathLst>
                <a:path h="455758" w="2665920">
                  <a:moveTo>
                    <a:pt x="0" y="0"/>
                  </a:moveTo>
                  <a:lnTo>
                    <a:pt x="2665920" y="0"/>
                  </a:lnTo>
                  <a:lnTo>
                    <a:pt x="2665920" y="455758"/>
                  </a:lnTo>
                  <a:lnTo>
                    <a:pt x="0" y="455758"/>
                  </a:lnTo>
                  <a:close/>
                </a:path>
              </a:pathLst>
            </a:custGeom>
            <a:blipFill>
              <a:blip r:embed="rId4">
                <a:alphaModFix amt="0"/>
              </a:blip>
              <a:stretch>
                <a:fillRect l="0" t="-78062" r="0" b="-49889"/>
              </a:stretch>
            </a:blipFill>
          </p:spPr>
        </p:sp>
        <p:sp>
          <p:nvSpPr>
            <p:cNvPr name="TextBox 8" id="8"/>
            <p:cNvSpPr txBox="true"/>
            <p:nvPr/>
          </p:nvSpPr>
          <p:spPr>
            <a:xfrm>
              <a:off x="0" y="-19050"/>
              <a:ext cx="2665920" cy="474803"/>
            </a:xfrm>
            <a:prstGeom prst="rect">
              <a:avLst/>
            </a:prstGeom>
          </p:spPr>
          <p:txBody>
            <a:bodyPr anchor="ctr" rtlCol="false" tIns="0" lIns="0" bIns="0" rIns="0"/>
            <a:lstStyle/>
            <a:p>
              <a:pPr algn="ctr">
                <a:lnSpc>
                  <a:spcPts val="1920"/>
                </a:lnSpc>
              </a:pPr>
              <a:r>
                <a:rPr lang="en-US" sz="1600" b="true">
                  <a:solidFill>
                    <a:srgbClr val="FFFFFF"/>
                  </a:solidFill>
                  <a:latin typeface="Arimo Bold"/>
                  <a:ea typeface="Arimo Bold"/>
                  <a:cs typeface="Arimo Bold"/>
                  <a:sym typeface="Arimo Bold"/>
                </a:rPr>
                <a:t>3</a:t>
              </a: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0E1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456476"/>
          </a:xfrm>
          <a:custGeom>
            <a:avLst/>
            <a:gdLst/>
            <a:ahLst/>
            <a:cxnLst/>
            <a:rect r="r" b="b" t="t" l="l"/>
            <a:pathLst>
              <a:path h="456476" w="18287276">
                <a:moveTo>
                  <a:pt x="0" y="0"/>
                </a:moveTo>
                <a:lnTo>
                  <a:pt x="18287276" y="0"/>
                </a:lnTo>
                <a:lnTo>
                  <a:pt x="18287276" y="456476"/>
                </a:lnTo>
                <a:lnTo>
                  <a:pt x="0" y="456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926031" y="1761651"/>
            <a:ext cx="8435215" cy="5858679"/>
          </a:xfrm>
          <a:custGeom>
            <a:avLst/>
            <a:gdLst/>
            <a:ahLst/>
            <a:cxnLst/>
            <a:rect r="r" b="b" t="t" l="l"/>
            <a:pathLst>
              <a:path h="5858679" w="8435215">
                <a:moveTo>
                  <a:pt x="0" y="0"/>
                </a:moveTo>
                <a:lnTo>
                  <a:pt x="8435215" y="0"/>
                </a:lnTo>
                <a:lnTo>
                  <a:pt x="8435215" y="5858679"/>
                </a:lnTo>
                <a:lnTo>
                  <a:pt x="0" y="5858679"/>
                </a:lnTo>
                <a:lnTo>
                  <a:pt x="0" y="0"/>
                </a:lnTo>
                <a:close/>
              </a:path>
            </a:pathLst>
          </a:custGeom>
          <a:blipFill>
            <a:blip r:embed="rId4"/>
            <a:stretch>
              <a:fillRect l="0" t="0" r="0" b="0"/>
            </a:stretch>
          </a:blipFill>
        </p:spPr>
      </p:sp>
      <p:sp>
        <p:nvSpPr>
          <p:cNvPr name="TextBox 4" id="4"/>
          <p:cNvSpPr txBox="true"/>
          <p:nvPr/>
        </p:nvSpPr>
        <p:spPr>
          <a:xfrm rot="0">
            <a:off x="1043997" y="979227"/>
            <a:ext cx="16199282" cy="809625"/>
          </a:xfrm>
          <a:prstGeom prst="rect">
            <a:avLst/>
          </a:prstGeom>
        </p:spPr>
        <p:txBody>
          <a:bodyPr anchor="t" rtlCol="false" tIns="0" lIns="0" bIns="0" rIns="0">
            <a:spAutoFit/>
          </a:bodyPr>
          <a:lstStyle/>
          <a:p>
            <a:pPr algn="l">
              <a:lnSpc>
                <a:spcPts val="6240"/>
              </a:lnSpc>
            </a:pPr>
            <a:r>
              <a:rPr lang="en-US" sz="5200" b="true">
                <a:solidFill>
                  <a:srgbClr val="FFFFFF"/>
                </a:solidFill>
                <a:latin typeface="Arimo Bold"/>
                <a:ea typeface="Arimo Bold"/>
                <a:cs typeface="Arimo Bold"/>
                <a:sym typeface="Arimo Bold"/>
              </a:rPr>
              <a:t>Concept</a:t>
            </a:r>
          </a:p>
        </p:txBody>
      </p:sp>
      <p:sp>
        <p:nvSpPr>
          <p:cNvPr name="TextBox 5" id="5"/>
          <p:cNvSpPr txBox="true"/>
          <p:nvPr/>
        </p:nvSpPr>
        <p:spPr>
          <a:xfrm rot="0">
            <a:off x="1028700" y="7695528"/>
            <a:ext cx="15448432" cy="2376418"/>
          </a:xfrm>
          <a:prstGeom prst="rect">
            <a:avLst/>
          </a:prstGeom>
        </p:spPr>
        <p:txBody>
          <a:bodyPr anchor="t" rtlCol="false" tIns="0" lIns="0" bIns="0" rIns="0">
            <a:spAutoFit/>
          </a:bodyPr>
          <a:lstStyle/>
          <a:p>
            <a:pPr algn="l">
              <a:lnSpc>
                <a:spcPts val="6474"/>
              </a:lnSpc>
            </a:pPr>
            <a:r>
              <a:rPr lang="en-US" sz="3596">
                <a:solidFill>
                  <a:srgbClr val="FFFFFF"/>
                </a:solidFill>
                <a:latin typeface="Roboto"/>
                <a:ea typeface="Roboto"/>
                <a:cs typeface="Roboto"/>
                <a:sym typeface="Roboto"/>
              </a:rPr>
              <a:t>Turn-based, dungeon crawler with 3 levels. </a:t>
            </a:r>
          </a:p>
          <a:p>
            <a:pPr algn="l">
              <a:lnSpc>
                <a:spcPts val="6474"/>
              </a:lnSpc>
            </a:pPr>
            <a:r>
              <a:rPr lang="en-US" sz="3596">
                <a:solidFill>
                  <a:srgbClr val="FFFFFF"/>
                </a:solidFill>
                <a:latin typeface="Roboto"/>
                <a:ea typeface="Roboto"/>
                <a:cs typeface="Roboto"/>
                <a:sym typeface="Roboto"/>
              </a:rPr>
              <a:t>Focus on simple inputs, tactical play and loot collecting to escape the labyrinth.</a:t>
            </a:r>
          </a:p>
        </p:txBody>
      </p:sp>
      <p:sp>
        <p:nvSpPr>
          <p:cNvPr name="AutoShape 6" id="6"/>
          <p:cNvSpPr/>
          <p:nvPr/>
        </p:nvSpPr>
        <p:spPr>
          <a:xfrm rot="3719">
            <a:off x="-9535" y="909999"/>
            <a:ext cx="18307783" cy="0"/>
          </a:xfrm>
          <a:prstGeom prst="line">
            <a:avLst/>
          </a:prstGeom>
          <a:ln cap="rnd" w="9525">
            <a:solidFill>
              <a:srgbClr val="FFFFFF"/>
            </a:solidFill>
            <a:prstDash val="solid"/>
            <a:headEnd type="none" len="sm" w="sm"/>
            <a:tailEnd type="none" len="sm" w="sm"/>
          </a:ln>
        </p:spPr>
      </p:sp>
      <p:grpSp>
        <p:nvGrpSpPr>
          <p:cNvPr name="Group 7" id="7"/>
          <p:cNvGrpSpPr/>
          <p:nvPr/>
        </p:nvGrpSpPr>
        <p:grpSpPr>
          <a:xfrm rot="0">
            <a:off x="8143923" y="563042"/>
            <a:ext cx="1999440" cy="341815"/>
            <a:chOff x="0" y="0"/>
            <a:chExt cx="2665920" cy="455753"/>
          </a:xfrm>
        </p:grpSpPr>
        <p:sp>
          <p:nvSpPr>
            <p:cNvPr name="Freeform 8" id="8"/>
            <p:cNvSpPr/>
            <p:nvPr/>
          </p:nvSpPr>
          <p:spPr>
            <a:xfrm flipH="false" flipV="false" rot="0">
              <a:off x="0" y="0"/>
              <a:ext cx="2665920" cy="455758"/>
            </a:xfrm>
            <a:custGeom>
              <a:avLst/>
              <a:gdLst/>
              <a:ahLst/>
              <a:cxnLst/>
              <a:rect r="r" b="b" t="t" l="l"/>
              <a:pathLst>
                <a:path h="455758" w="2665920">
                  <a:moveTo>
                    <a:pt x="0" y="0"/>
                  </a:moveTo>
                  <a:lnTo>
                    <a:pt x="2665920" y="0"/>
                  </a:lnTo>
                  <a:lnTo>
                    <a:pt x="2665920" y="455758"/>
                  </a:lnTo>
                  <a:lnTo>
                    <a:pt x="0" y="455758"/>
                  </a:lnTo>
                  <a:close/>
                </a:path>
              </a:pathLst>
            </a:custGeom>
            <a:blipFill>
              <a:blip r:embed="rId5">
                <a:alphaModFix amt="0"/>
              </a:blip>
              <a:stretch>
                <a:fillRect l="0" t="-78062" r="0" b="-49889"/>
              </a:stretch>
            </a:blipFill>
          </p:spPr>
        </p:sp>
        <p:sp>
          <p:nvSpPr>
            <p:cNvPr name="TextBox 9" id="9"/>
            <p:cNvSpPr txBox="true"/>
            <p:nvPr/>
          </p:nvSpPr>
          <p:spPr>
            <a:xfrm>
              <a:off x="0" y="-19050"/>
              <a:ext cx="2665920" cy="474803"/>
            </a:xfrm>
            <a:prstGeom prst="rect">
              <a:avLst/>
            </a:prstGeom>
          </p:spPr>
          <p:txBody>
            <a:bodyPr anchor="ctr" rtlCol="false" tIns="0" lIns="0" bIns="0" rIns="0"/>
            <a:lstStyle/>
            <a:p>
              <a:pPr algn="ctr">
                <a:lnSpc>
                  <a:spcPts val="1920"/>
                </a:lnSpc>
              </a:pPr>
              <a:r>
                <a:rPr lang="en-US" sz="1600" b="true">
                  <a:solidFill>
                    <a:srgbClr val="FFFFFF"/>
                  </a:solidFill>
                  <a:latin typeface="Arimo Bold"/>
                  <a:ea typeface="Arimo Bold"/>
                  <a:cs typeface="Arimo Bold"/>
                  <a:sym typeface="Arimo Bold"/>
                </a:rPr>
                <a:t>4</a:t>
              </a:r>
            </a:p>
          </p:txBody>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0E1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456476"/>
          </a:xfrm>
          <a:custGeom>
            <a:avLst/>
            <a:gdLst/>
            <a:ahLst/>
            <a:cxnLst/>
            <a:rect r="r" b="b" t="t" l="l"/>
            <a:pathLst>
              <a:path h="456476" w="18287276">
                <a:moveTo>
                  <a:pt x="0" y="0"/>
                </a:moveTo>
                <a:lnTo>
                  <a:pt x="18287276" y="0"/>
                </a:lnTo>
                <a:lnTo>
                  <a:pt x="18287276" y="456476"/>
                </a:lnTo>
                <a:lnTo>
                  <a:pt x="0" y="456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48640" y="1787100"/>
            <a:ext cx="10941844" cy="2998022"/>
          </a:xfrm>
          <a:prstGeom prst="rect">
            <a:avLst/>
          </a:prstGeom>
        </p:spPr>
        <p:txBody>
          <a:bodyPr anchor="t" rtlCol="false" tIns="0" lIns="0" bIns="0" rIns="0">
            <a:spAutoFit/>
          </a:bodyPr>
          <a:lstStyle/>
          <a:p>
            <a:pPr algn="l">
              <a:lnSpc>
                <a:spcPts val="10800"/>
              </a:lnSpc>
            </a:pPr>
            <a:r>
              <a:rPr lang="en-US" sz="9000" b="true">
                <a:solidFill>
                  <a:srgbClr val="FFFFFF"/>
                </a:solidFill>
                <a:latin typeface="Arimo Bold"/>
                <a:ea typeface="Arimo Bold"/>
                <a:cs typeface="Arimo Bold"/>
                <a:sym typeface="Arimo Bold"/>
              </a:rPr>
              <a:t>Core Entities</a:t>
            </a:r>
          </a:p>
        </p:txBody>
      </p:sp>
      <p:sp>
        <p:nvSpPr>
          <p:cNvPr name="TextBox 4" id="4"/>
          <p:cNvSpPr txBox="true"/>
          <p:nvPr/>
        </p:nvSpPr>
        <p:spPr>
          <a:xfrm rot="0">
            <a:off x="548640" y="3238486"/>
            <a:ext cx="12794913" cy="538099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Player: the player itself. When the player makes a “legal move”, the world makes a time step.</a:t>
            </a:r>
          </a:p>
          <a:p>
            <a:pPr algn="ctr">
              <a:lnSpc>
                <a:spcPts val="4759"/>
              </a:lnSpc>
            </a:pPr>
            <a:r>
              <a:rPr lang="en-US" sz="3399">
                <a:solidFill>
                  <a:srgbClr val="FFFFFF"/>
                </a:solidFill>
                <a:latin typeface="Open Sans"/>
                <a:ea typeface="Open Sans"/>
                <a:cs typeface="Open Sans"/>
                <a:sym typeface="Open Sans"/>
              </a:rPr>
              <a:t>Enemy: hostile LivingBeings. Enemies will chase the player down to a dead end. They will attack the player when moving near them.</a:t>
            </a:r>
          </a:p>
          <a:p>
            <a:pPr algn="ctr">
              <a:lnSpc>
                <a:spcPts val="4759"/>
              </a:lnSpc>
            </a:pPr>
            <a:r>
              <a:rPr lang="en-US" sz="3399">
                <a:solidFill>
                  <a:srgbClr val="FFFFFF"/>
                </a:solidFill>
                <a:latin typeface="Open Sans"/>
                <a:ea typeface="Open Sans"/>
                <a:cs typeface="Open Sans"/>
                <a:sym typeface="Open Sans"/>
              </a:rPr>
              <a:t>Chests: will contain keys to open the doors to leave the labyrinth.</a:t>
            </a:r>
          </a:p>
          <a:p>
            <a:pPr algn="ctr">
              <a:lnSpc>
                <a:spcPts val="4759"/>
              </a:lnSpc>
            </a:pPr>
            <a:r>
              <a:rPr lang="en-US" sz="3399">
                <a:solidFill>
                  <a:srgbClr val="FFFFFF"/>
                </a:solidFill>
                <a:latin typeface="Open Sans"/>
                <a:ea typeface="Open Sans"/>
                <a:cs typeface="Open Sans"/>
                <a:sym typeface="Open Sans"/>
              </a:rPr>
              <a:t>Doors: last obstacle to leave the labyrinth. Can be opened with keys.</a:t>
            </a:r>
          </a:p>
        </p:txBody>
      </p:sp>
      <p:sp>
        <p:nvSpPr>
          <p:cNvPr name="AutoShape 5" id="5"/>
          <p:cNvSpPr/>
          <p:nvPr/>
        </p:nvSpPr>
        <p:spPr>
          <a:xfrm rot="3719">
            <a:off x="-9535" y="909999"/>
            <a:ext cx="18307783" cy="0"/>
          </a:xfrm>
          <a:prstGeom prst="line">
            <a:avLst/>
          </a:prstGeom>
          <a:ln cap="rnd" w="9525">
            <a:solidFill>
              <a:srgbClr val="FFFFFF"/>
            </a:solidFill>
            <a:prstDash val="solid"/>
            <a:headEnd type="none" len="sm" w="sm"/>
            <a:tailEnd type="none" len="sm" w="sm"/>
          </a:ln>
        </p:spPr>
      </p:sp>
      <p:grpSp>
        <p:nvGrpSpPr>
          <p:cNvPr name="Group 6" id="6"/>
          <p:cNvGrpSpPr/>
          <p:nvPr/>
        </p:nvGrpSpPr>
        <p:grpSpPr>
          <a:xfrm rot="0">
            <a:off x="8143923" y="563042"/>
            <a:ext cx="1999440" cy="341815"/>
            <a:chOff x="0" y="0"/>
            <a:chExt cx="2665920" cy="455753"/>
          </a:xfrm>
        </p:grpSpPr>
        <p:sp>
          <p:nvSpPr>
            <p:cNvPr name="Freeform 7" id="7"/>
            <p:cNvSpPr/>
            <p:nvPr/>
          </p:nvSpPr>
          <p:spPr>
            <a:xfrm flipH="false" flipV="false" rot="0">
              <a:off x="0" y="0"/>
              <a:ext cx="2665920" cy="455758"/>
            </a:xfrm>
            <a:custGeom>
              <a:avLst/>
              <a:gdLst/>
              <a:ahLst/>
              <a:cxnLst/>
              <a:rect r="r" b="b" t="t" l="l"/>
              <a:pathLst>
                <a:path h="455758" w="2665920">
                  <a:moveTo>
                    <a:pt x="0" y="0"/>
                  </a:moveTo>
                  <a:lnTo>
                    <a:pt x="2665920" y="0"/>
                  </a:lnTo>
                  <a:lnTo>
                    <a:pt x="2665920" y="455758"/>
                  </a:lnTo>
                  <a:lnTo>
                    <a:pt x="0" y="455758"/>
                  </a:lnTo>
                  <a:close/>
                </a:path>
              </a:pathLst>
            </a:custGeom>
            <a:blipFill>
              <a:blip r:embed="rId4">
                <a:alphaModFix amt="0"/>
              </a:blip>
              <a:stretch>
                <a:fillRect l="0" t="-78062" r="0" b="-49889"/>
              </a:stretch>
            </a:blipFill>
          </p:spPr>
        </p:sp>
        <p:sp>
          <p:nvSpPr>
            <p:cNvPr name="TextBox 8" id="8"/>
            <p:cNvSpPr txBox="true"/>
            <p:nvPr/>
          </p:nvSpPr>
          <p:spPr>
            <a:xfrm>
              <a:off x="0" y="-19050"/>
              <a:ext cx="2665920" cy="474803"/>
            </a:xfrm>
            <a:prstGeom prst="rect">
              <a:avLst/>
            </a:prstGeom>
          </p:spPr>
          <p:txBody>
            <a:bodyPr anchor="ctr" rtlCol="false" tIns="0" lIns="0" bIns="0" rIns="0"/>
            <a:lstStyle/>
            <a:p>
              <a:pPr algn="ctr">
                <a:lnSpc>
                  <a:spcPts val="1920"/>
                </a:lnSpc>
              </a:pPr>
              <a:r>
                <a:rPr lang="en-US" sz="1600" b="true">
                  <a:solidFill>
                    <a:srgbClr val="FFFFFF"/>
                  </a:solidFill>
                  <a:latin typeface="Arimo Bold"/>
                  <a:ea typeface="Arimo Bold"/>
                  <a:cs typeface="Arimo Bold"/>
                  <a:sym typeface="Arimo Bold"/>
                </a:rPr>
                <a:t>5</a:t>
              </a:r>
            </a:p>
          </p:txBody>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0E1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456476"/>
          </a:xfrm>
          <a:custGeom>
            <a:avLst/>
            <a:gdLst/>
            <a:ahLst/>
            <a:cxnLst/>
            <a:rect r="r" b="b" t="t" l="l"/>
            <a:pathLst>
              <a:path h="456476" w="18287276">
                <a:moveTo>
                  <a:pt x="0" y="0"/>
                </a:moveTo>
                <a:lnTo>
                  <a:pt x="18287276" y="0"/>
                </a:lnTo>
                <a:lnTo>
                  <a:pt x="18287276" y="456476"/>
                </a:lnTo>
                <a:lnTo>
                  <a:pt x="0" y="456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58654" y="1028700"/>
            <a:ext cx="8168145" cy="6401784"/>
          </a:xfrm>
          <a:custGeom>
            <a:avLst/>
            <a:gdLst/>
            <a:ahLst/>
            <a:cxnLst/>
            <a:rect r="r" b="b" t="t" l="l"/>
            <a:pathLst>
              <a:path h="6401784" w="8168145">
                <a:moveTo>
                  <a:pt x="0" y="0"/>
                </a:moveTo>
                <a:lnTo>
                  <a:pt x="8168146" y="0"/>
                </a:lnTo>
                <a:lnTo>
                  <a:pt x="8168146" y="6401784"/>
                </a:lnTo>
                <a:lnTo>
                  <a:pt x="0" y="6401784"/>
                </a:lnTo>
                <a:lnTo>
                  <a:pt x="0" y="0"/>
                </a:lnTo>
                <a:close/>
              </a:path>
            </a:pathLst>
          </a:custGeom>
          <a:blipFill>
            <a:blip r:embed="rId4"/>
            <a:stretch>
              <a:fillRect l="0" t="0" r="0" b="0"/>
            </a:stretch>
          </a:blipFill>
        </p:spPr>
      </p:sp>
      <p:sp>
        <p:nvSpPr>
          <p:cNvPr name="TextBox 4" id="4"/>
          <p:cNvSpPr txBox="true"/>
          <p:nvPr/>
        </p:nvSpPr>
        <p:spPr>
          <a:xfrm rot="0">
            <a:off x="438483" y="1009650"/>
            <a:ext cx="17208722" cy="1130732"/>
          </a:xfrm>
          <a:prstGeom prst="rect">
            <a:avLst/>
          </a:prstGeom>
        </p:spPr>
        <p:txBody>
          <a:bodyPr anchor="t" rtlCol="false" tIns="0" lIns="0" bIns="0" rIns="0">
            <a:spAutoFit/>
          </a:bodyPr>
          <a:lstStyle/>
          <a:p>
            <a:pPr algn="l">
              <a:lnSpc>
                <a:spcPts val="6240"/>
              </a:lnSpc>
            </a:pPr>
            <a:r>
              <a:rPr lang="en-US" sz="5200" b="true">
                <a:solidFill>
                  <a:srgbClr val="FFFFFF"/>
                </a:solidFill>
                <a:latin typeface="Arimo Bold"/>
                <a:ea typeface="Arimo Bold"/>
                <a:cs typeface="Arimo Bold"/>
                <a:sym typeface="Arimo Bold"/>
              </a:rPr>
              <a:t>Objectives &amp; Victory</a:t>
            </a:r>
          </a:p>
        </p:txBody>
      </p:sp>
      <p:sp>
        <p:nvSpPr>
          <p:cNvPr name="TextBox 5" id="5"/>
          <p:cNvSpPr txBox="true"/>
          <p:nvPr/>
        </p:nvSpPr>
        <p:spPr>
          <a:xfrm rot="0">
            <a:off x="311030" y="5614823"/>
            <a:ext cx="8545749" cy="1815661"/>
          </a:xfrm>
          <a:prstGeom prst="rect">
            <a:avLst/>
          </a:prstGeom>
        </p:spPr>
        <p:txBody>
          <a:bodyPr anchor="t" rtlCol="false" tIns="0" lIns="0" bIns="0" rIns="0">
            <a:spAutoFit/>
          </a:bodyPr>
          <a:lstStyle/>
          <a:p>
            <a:pPr algn="ctr">
              <a:lnSpc>
                <a:spcPts val="7311"/>
              </a:lnSpc>
            </a:pPr>
            <a:r>
              <a:rPr lang="en-US" sz="5222">
                <a:solidFill>
                  <a:srgbClr val="FFFFFF"/>
                </a:solidFill>
                <a:latin typeface="Open Sans"/>
                <a:ea typeface="Open Sans"/>
                <a:cs typeface="Open Sans"/>
                <a:sym typeface="Open Sans"/>
              </a:rPr>
              <a:t>The main objective is to escape the labyrinth alive. </a:t>
            </a:r>
          </a:p>
        </p:txBody>
      </p:sp>
      <p:sp>
        <p:nvSpPr>
          <p:cNvPr name="AutoShape 6" id="6"/>
          <p:cNvSpPr/>
          <p:nvPr/>
        </p:nvSpPr>
        <p:spPr>
          <a:xfrm rot="3719">
            <a:off x="-9535" y="909999"/>
            <a:ext cx="18307783" cy="0"/>
          </a:xfrm>
          <a:prstGeom prst="line">
            <a:avLst/>
          </a:prstGeom>
          <a:ln cap="rnd" w="9525">
            <a:solidFill>
              <a:srgbClr val="FFFFFF"/>
            </a:solidFill>
            <a:prstDash val="solid"/>
            <a:headEnd type="none" len="sm" w="sm"/>
            <a:tailEnd type="none" len="sm" w="sm"/>
          </a:ln>
        </p:spPr>
      </p:sp>
      <p:grpSp>
        <p:nvGrpSpPr>
          <p:cNvPr name="Group 7" id="7"/>
          <p:cNvGrpSpPr/>
          <p:nvPr/>
        </p:nvGrpSpPr>
        <p:grpSpPr>
          <a:xfrm rot="0">
            <a:off x="8143923" y="563042"/>
            <a:ext cx="1999440" cy="341815"/>
            <a:chOff x="0" y="0"/>
            <a:chExt cx="2665920" cy="455753"/>
          </a:xfrm>
        </p:grpSpPr>
        <p:sp>
          <p:nvSpPr>
            <p:cNvPr name="Freeform 8" id="8"/>
            <p:cNvSpPr/>
            <p:nvPr/>
          </p:nvSpPr>
          <p:spPr>
            <a:xfrm flipH="false" flipV="false" rot="0">
              <a:off x="0" y="0"/>
              <a:ext cx="2665920" cy="455758"/>
            </a:xfrm>
            <a:custGeom>
              <a:avLst/>
              <a:gdLst/>
              <a:ahLst/>
              <a:cxnLst/>
              <a:rect r="r" b="b" t="t" l="l"/>
              <a:pathLst>
                <a:path h="455758" w="2665920">
                  <a:moveTo>
                    <a:pt x="0" y="0"/>
                  </a:moveTo>
                  <a:lnTo>
                    <a:pt x="2665920" y="0"/>
                  </a:lnTo>
                  <a:lnTo>
                    <a:pt x="2665920" y="455758"/>
                  </a:lnTo>
                  <a:lnTo>
                    <a:pt x="0" y="455758"/>
                  </a:lnTo>
                  <a:close/>
                </a:path>
              </a:pathLst>
            </a:custGeom>
            <a:blipFill>
              <a:blip r:embed="rId5">
                <a:alphaModFix amt="0"/>
              </a:blip>
              <a:stretch>
                <a:fillRect l="0" t="-78062" r="0" b="-49889"/>
              </a:stretch>
            </a:blipFill>
          </p:spPr>
        </p:sp>
        <p:sp>
          <p:nvSpPr>
            <p:cNvPr name="TextBox 9" id="9"/>
            <p:cNvSpPr txBox="true"/>
            <p:nvPr/>
          </p:nvSpPr>
          <p:spPr>
            <a:xfrm>
              <a:off x="0" y="-19050"/>
              <a:ext cx="2665920" cy="474803"/>
            </a:xfrm>
            <a:prstGeom prst="rect">
              <a:avLst/>
            </a:prstGeom>
          </p:spPr>
          <p:txBody>
            <a:bodyPr anchor="ctr" rtlCol="false" tIns="0" lIns="0" bIns="0" rIns="0"/>
            <a:lstStyle/>
            <a:p>
              <a:pPr algn="ctr">
                <a:lnSpc>
                  <a:spcPts val="1920"/>
                </a:lnSpc>
              </a:pPr>
              <a:r>
                <a:rPr lang="en-US" sz="1600" b="true">
                  <a:solidFill>
                    <a:srgbClr val="FFFFFF"/>
                  </a:solidFill>
                  <a:latin typeface="Arimo Bold"/>
                  <a:ea typeface="Arimo Bold"/>
                  <a:cs typeface="Arimo Bold"/>
                  <a:sym typeface="Arimo Bold"/>
                </a:rPr>
                <a:t>6</a:t>
              </a:r>
            </a:p>
          </p:txBody>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0E1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456476"/>
          </a:xfrm>
          <a:custGeom>
            <a:avLst/>
            <a:gdLst/>
            <a:ahLst/>
            <a:cxnLst/>
            <a:rect r="r" b="b" t="t" l="l"/>
            <a:pathLst>
              <a:path h="456476" w="18287276">
                <a:moveTo>
                  <a:pt x="0" y="0"/>
                </a:moveTo>
                <a:lnTo>
                  <a:pt x="18287276" y="0"/>
                </a:lnTo>
                <a:lnTo>
                  <a:pt x="18287276" y="456476"/>
                </a:lnTo>
                <a:lnTo>
                  <a:pt x="0" y="456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43997" y="798252"/>
            <a:ext cx="4388396" cy="1714500"/>
          </a:xfrm>
          <a:prstGeom prst="rect">
            <a:avLst/>
          </a:prstGeom>
        </p:spPr>
        <p:txBody>
          <a:bodyPr anchor="t" rtlCol="false" tIns="0" lIns="0" bIns="0" rIns="0">
            <a:spAutoFit/>
          </a:bodyPr>
          <a:lstStyle/>
          <a:p>
            <a:pPr algn="l">
              <a:lnSpc>
                <a:spcPts val="11999"/>
              </a:lnSpc>
            </a:pPr>
            <a:r>
              <a:rPr lang="en-US" sz="9999" b="true">
                <a:solidFill>
                  <a:srgbClr val="FFFFFF"/>
                </a:solidFill>
                <a:latin typeface="Calibri (MS) Bold"/>
                <a:ea typeface="Calibri (MS) Bold"/>
                <a:cs typeface="Calibri (MS) Bold"/>
                <a:sym typeface="Calibri (MS) Bold"/>
              </a:rPr>
              <a:t>02</a:t>
            </a:r>
          </a:p>
        </p:txBody>
      </p:sp>
      <p:sp>
        <p:nvSpPr>
          <p:cNvPr name="TextBox 4" id="4"/>
          <p:cNvSpPr txBox="true"/>
          <p:nvPr/>
        </p:nvSpPr>
        <p:spPr>
          <a:xfrm rot="0">
            <a:off x="1043997" y="2865301"/>
            <a:ext cx="7055282" cy="2803617"/>
          </a:xfrm>
          <a:prstGeom prst="rect">
            <a:avLst/>
          </a:prstGeom>
        </p:spPr>
        <p:txBody>
          <a:bodyPr anchor="t" rtlCol="false" tIns="0" lIns="0" bIns="0" rIns="0">
            <a:spAutoFit/>
          </a:bodyPr>
          <a:lstStyle/>
          <a:p>
            <a:pPr algn="l">
              <a:lnSpc>
                <a:spcPts val="9600"/>
              </a:lnSpc>
            </a:pPr>
            <a:r>
              <a:rPr lang="en-US" sz="8000" b="true">
                <a:solidFill>
                  <a:srgbClr val="FFFFFF"/>
                </a:solidFill>
                <a:latin typeface="Arimo Bold"/>
                <a:ea typeface="Arimo Bold"/>
                <a:cs typeface="Arimo Bold"/>
                <a:sym typeface="Arimo Bold"/>
              </a:rPr>
              <a:t>Gameplay Mechanics</a:t>
            </a:r>
          </a:p>
        </p:txBody>
      </p:sp>
      <p:sp>
        <p:nvSpPr>
          <p:cNvPr name="AutoShape 5" id="5"/>
          <p:cNvSpPr/>
          <p:nvPr/>
        </p:nvSpPr>
        <p:spPr>
          <a:xfrm rot="3719">
            <a:off x="-9535" y="909999"/>
            <a:ext cx="18307783" cy="0"/>
          </a:xfrm>
          <a:prstGeom prst="line">
            <a:avLst/>
          </a:prstGeom>
          <a:ln cap="rnd" w="9525">
            <a:solidFill>
              <a:srgbClr val="FFFFFF"/>
            </a:solidFill>
            <a:prstDash val="solid"/>
            <a:headEnd type="none" len="sm" w="sm"/>
            <a:tailEnd type="none" len="sm" w="sm"/>
          </a:ln>
        </p:spPr>
      </p:sp>
      <p:grpSp>
        <p:nvGrpSpPr>
          <p:cNvPr name="Group 6" id="6"/>
          <p:cNvGrpSpPr/>
          <p:nvPr/>
        </p:nvGrpSpPr>
        <p:grpSpPr>
          <a:xfrm rot="0">
            <a:off x="8143923" y="563042"/>
            <a:ext cx="1999440" cy="341815"/>
            <a:chOff x="0" y="0"/>
            <a:chExt cx="2665920" cy="455753"/>
          </a:xfrm>
        </p:grpSpPr>
        <p:sp>
          <p:nvSpPr>
            <p:cNvPr name="Freeform 7" id="7"/>
            <p:cNvSpPr/>
            <p:nvPr/>
          </p:nvSpPr>
          <p:spPr>
            <a:xfrm flipH="false" flipV="false" rot="0">
              <a:off x="0" y="0"/>
              <a:ext cx="2665920" cy="455758"/>
            </a:xfrm>
            <a:custGeom>
              <a:avLst/>
              <a:gdLst/>
              <a:ahLst/>
              <a:cxnLst/>
              <a:rect r="r" b="b" t="t" l="l"/>
              <a:pathLst>
                <a:path h="455758" w="2665920">
                  <a:moveTo>
                    <a:pt x="0" y="0"/>
                  </a:moveTo>
                  <a:lnTo>
                    <a:pt x="2665920" y="0"/>
                  </a:lnTo>
                  <a:lnTo>
                    <a:pt x="2665920" y="455758"/>
                  </a:lnTo>
                  <a:lnTo>
                    <a:pt x="0" y="455758"/>
                  </a:lnTo>
                  <a:close/>
                </a:path>
              </a:pathLst>
            </a:custGeom>
            <a:blipFill>
              <a:blip r:embed="rId4">
                <a:alphaModFix amt="0"/>
              </a:blip>
              <a:stretch>
                <a:fillRect l="0" t="-78062" r="0" b="-49889"/>
              </a:stretch>
            </a:blipFill>
          </p:spPr>
        </p:sp>
        <p:sp>
          <p:nvSpPr>
            <p:cNvPr name="TextBox 8" id="8"/>
            <p:cNvSpPr txBox="true"/>
            <p:nvPr/>
          </p:nvSpPr>
          <p:spPr>
            <a:xfrm>
              <a:off x="0" y="-19050"/>
              <a:ext cx="2665920" cy="474803"/>
            </a:xfrm>
            <a:prstGeom prst="rect">
              <a:avLst/>
            </a:prstGeom>
          </p:spPr>
          <p:txBody>
            <a:bodyPr anchor="ctr" rtlCol="false" tIns="0" lIns="0" bIns="0" rIns="0"/>
            <a:lstStyle/>
            <a:p>
              <a:pPr algn="ctr">
                <a:lnSpc>
                  <a:spcPts val="1920"/>
                </a:lnSpc>
              </a:pPr>
              <a:r>
                <a:rPr lang="en-US" sz="1600" b="true">
                  <a:solidFill>
                    <a:srgbClr val="FFFFFF"/>
                  </a:solidFill>
                  <a:latin typeface="Arimo Bold"/>
                  <a:ea typeface="Arimo Bold"/>
                  <a:cs typeface="Arimo Bold"/>
                  <a:sym typeface="Arimo Bold"/>
                </a:rPr>
                <a:t>7</a:t>
              </a:r>
            </a:p>
          </p:txBody>
        </p:sp>
      </p:gr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0E1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456476"/>
          </a:xfrm>
          <a:custGeom>
            <a:avLst/>
            <a:gdLst/>
            <a:ahLst/>
            <a:cxnLst/>
            <a:rect r="r" b="b" t="t" l="l"/>
            <a:pathLst>
              <a:path h="456476" w="18287276">
                <a:moveTo>
                  <a:pt x="0" y="0"/>
                </a:moveTo>
                <a:lnTo>
                  <a:pt x="18287276" y="0"/>
                </a:lnTo>
                <a:lnTo>
                  <a:pt x="18287276" y="456476"/>
                </a:lnTo>
                <a:lnTo>
                  <a:pt x="0" y="456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731200" y="1200245"/>
            <a:ext cx="9512079" cy="5549825"/>
          </a:xfrm>
          <a:custGeom>
            <a:avLst/>
            <a:gdLst/>
            <a:ahLst/>
            <a:cxnLst/>
            <a:rect r="r" b="b" t="t" l="l"/>
            <a:pathLst>
              <a:path h="5549825" w="9512079">
                <a:moveTo>
                  <a:pt x="0" y="0"/>
                </a:moveTo>
                <a:lnTo>
                  <a:pt x="9512079" y="0"/>
                </a:lnTo>
                <a:lnTo>
                  <a:pt x="9512079" y="5549825"/>
                </a:lnTo>
                <a:lnTo>
                  <a:pt x="0" y="5549825"/>
                </a:lnTo>
                <a:lnTo>
                  <a:pt x="0" y="0"/>
                </a:lnTo>
                <a:close/>
              </a:path>
            </a:pathLst>
          </a:custGeom>
          <a:blipFill>
            <a:blip r:embed="rId4"/>
            <a:stretch>
              <a:fillRect l="0" t="0" r="0" b="0"/>
            </a:stretch>
          </a:blipFill>
        </p:spPr>
      </p:sp>
      <p:sp>
        <p:nvSpPr>
          <p:cNvPr name="TextBox 4" id="4"/>
          <p:cNvSpPr txBox="true"/>
          <p:nvPr/>
        </p:nvSpPr>
        <p:spPr>
          <a:xfrm rot="0">
            <a:off x="1043997" y="1181195"/>
            <a:ext cx="16199282" cy="1832010"/>
          </a:xfrm>
          <a:prstGeom prst="rect">
            <a:avLst/>
          </a:prstGeom>
        </p:spPr>
        <p:txBody>
          <a:bodyPr anchor="t" rtlCol="false" tIns="0" lIns="0" bIns="0" rIns="0">
            <a:spAutoFit/>
          </a:bodyPr>
          <a:lstStyle/>
          <a:p>
            <a:pPr algn="l">
              <a:lnSpc>
                <a:spcPts val="6240"/>
              </a:lnSpc>
            </a:pPr>
            <a:r>
              <a:rPr lang="en-US" sz="5200" b="true">
                <a:solidFill>
                  <a:srgbClr val="FFFFFF"/>
                </a:solidFill>
                <a:latin typeface="Arimo Bold"/>
                <a:ea typeface="Arimo Bold"/>
                <a:cs typeface="Arimo Bold"/>
                <a:sym typeface="Arimo Bold"/>
              </a:rPr>
              <a:t>Player Actions</a:t>
            </a:r>
          </a:p>
        </p:txBody>
      </p:sp>
      <p:sp>
        <p:nvSpPr>
          <p:cNvPr name="TextBox 5" id="5"/>
          <p:cNvSpPr txBox="true"/>
          <p:nvPr/>
        </p:nvSpPr>
        <p:spPr>
          <a:xfrm rot="0">
            <a:off x="536649" y="2171123"/>
            <a:ext cx="6897475" cy="4780915"/>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WASD/arroes to control the player.</a:t>
            </a:r>
          </a:p>
          <a:p>
            <a:pPr algn="ctr">
              <a:lnSpc>
                <a:spcPts val="4759"/>
              </a:lnSpc>
            </a:pPr>
            <a:r>
              <a:rPr lang="en-US" sz="3399">
                <a:solidFill>
                  <a:srgbClr val="FFFFFF"/>
                </a:solidFill>
                <a:latin typeface="Open Sans"/>
                <a:ea typeface="Open Sans"/>
                <a:cs typeface="Open Sans"/>
                <a:sym typeface="Open Sans"/>
              </a:rPr>
              <a:t>Attack is made automatically when standing and going towards the enemy.</a:t>
            </a:r>
          </a:p>
          <a:p>
            <a:pPr algn="ctr">
              <a:lnSpc>
                <a:spcPts val="4759"/>
              </a:lnSpc>
            </a:pPr>
            <a:r>
              <a:rPr lang="en-US" sz="3399">
                <a:solidFill>
                  <a:srgbClr val="FFFFFF"/>
                </a:solidFill>
                <a:latin typeface="Open Sans"/>
                <a:ea typeface="Open Sans"/>
                <a:cs typeface="Open Sans"/>
                <a:sym typeface="Open Sans"/>
              </a:rPr>
              <a:t>E to open chests and doors(if you have a key)</a:t>
            </a:r>
          </a:p>
          <a:p>
            <a:pPr algn="ctr">
              <a:lnSpc>
                <a:spcPts val="4759"/>
              </a:lnSpc>
            </a:pPr>
            <a:r>
              <a:rPr lang="en-US" sz="3399">
                <a:solidFill>
                  <a:srgbClr val="FFFFFF"/>
                </a:solidFill>
                <a:latin typeface="Open Sans"/>
                <a:ea typeface="Open Sans"/>
                <a:cs typeface="Open Sans"/>
                <a:sym typeface="Open Sans"/>
              </a:rPr>
              <a:t>I to open inventory. </a:t>
            </a:r>
          </a:p>
        </p:txBody>
      </p:sp>
      <p:sp>
        <p:nvSpPr>
          <p:cNvPr name="AutoShape 6" id="6"/>
          <p:cNvSpPr/>
          <p:nvPr/>
        </p:nvSpPr>
        <p:spPr>
          <a:xfrm rot="3719">
            <a:off x="-9535" y="909999"/>
            <a:ext cx="18307783" cy="0"/>
          </a:xfrm>
          <a:prstGeom prst="line">
            <a:avLst/>
          </a:prstGeom>
          <a:ln cap="rnd" w="9525">
            <a:solidFill>
              <a:srgbClr val="FFFFFF"/>
            </a:solidFill>
            <a:prstDash val="solid"/>
            <a:headEnd type="none" len="sm" w="sm"/>
            <a:tailEnd type="none" len="sm" w="sm"/>
          </a:ln>
        </p:spPr>
      </p:sp>
      <p:grpSp>
        <p:nvGrpSpPr>
          <p:cNvPr name="Group 7" id="7"/>
          <p:cNvGrpSpPr/>
          <p:nvPr/>
        </p:nvGrpSpPr>
        <p:grpSpPr>
          <a:xfrm rot="0">
            <a:off x="8143923" y="563042"/>
            <a:ext cx="1999440" cy="341815"/>
            <a:chOff x="0" y="0"/>
            <a:chExt cx="2665920" cy="455753"/>
          </a:xfrm>
        </p:grpSpPr>
        <p:sp>
          <p:nvSpPr>
            <p:cNvPr name="Freeform 8" id="8"/>
            <p:cNvSpPr/>
            <p:nvPr/>
          </p:nvSpPr>
          <p:spPr>
            <a:xfrm flipH="false" flipV="false" rot="0">
              <a:off x="0" y="0"/>
              <a:ext cx="2665920" cy="455758"/>
            </a:xfrm>
            <a:custGeom>
              <a:avLst/>
              <a:gdLst/>
              <a:ahLst/>
              <a:cxnLst/>
              <a:rect r="r" b="b" t="t" l="l"/>
              <a:pathLst>
                <a:path h="455758" w="2665920">
                  <a:moveTo>
                    <a:pt x="0" y="0"/>
                  </a:moveTo>
                  <a:lnTo>
                    <a:pt x="2665920" y="0"/>
                  </a:lnTo>
                  <a:lnTo>
                    <a:pt x="2665920" y="455758"/>
                  </a:lnTo>
                  <a:lnTo>
                    <a:pt x="0" y="455758"/>
                  </a:lnTo>
                  <a:close/>
                </a:path>
              </a:pathLst>
            </a:custGeom>
            <a:blipFill>
              <a:blip r:embed="rId5">
                <a:alphaModFix amt="0"/>
              </a:blip>
              <a:stretch>
                <a:fillRect l="0" t="-78062" r="0" b="-49889"/>
              </a:stretch>
            </a:blipFill>
          </p:spPr>
        </p:sp>
        <p:sp>
          <p:nvSpPr>
            <p:cNvPr name="TextBox 9" id="9"/>
            <p:cNvSpPr txBox="true"/>
            <p:nvPr/>
          </p:nvSpPr>
          <p:spPr>
            <a:xfrm>
              <a:off x="0" y="-19050"/>
              <a:ext cx="2665920" cy="474803"/>
            </a:xfrm>
            <a:prstGeom prst="rect">
              <a:avLst/>
            </a:prstGeom>
          </p:spPr>
          <p:txBody>
            <a:bodyPr anchor="ctr" rtlCol="false" tIns="0" lIns="0" bIns="0" rIns="0"/>
            <a:lstStyle/>
            <a:p>
              <a:pPr algn="ctr">
                <a:lnSpc>
                  <a:spcPts val="1920"/>
                </a:lnSpc>
              </a:pPr>
              <a:r>
                <a:rPr lang="en-US" sz="1600" b="true">
                  <a:solidFill>
                    <a:srgbClr val="FFFFFF"/>
                  </a:solidFill>
                  <a:latin typeface="Arimo Bold"/>
                  <a:ea typeface="Arimo Bold"/>
                  <a:cs typeface="Arimo Bold"/>
                  <a:sym typeface="Arimo Bold"/>
                </a:rPr>
                <a:t>8</a:t>
              </a:r>
            </a:p>
          </p:txBody>
        </p:sp>
      </p:gr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0E1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456476"/>
          </a:xfrm>
          <a:custGeom>
            <a:avLst/>
            <a:gdLst/>
            <a:ahLst/>
            <a:cxnLst/>
            <a:rect r="r" b="b" t="t" l="l"/>
            <a:pathLst>
              <a:path h="456476" w="18287276">
                <a:moveTo>
                  <a:pt x="0" y="0"/>
                </a:moveTo>
                <a:lnTo>
                  <a:pt x="18287276" y="0"/>
                </a:lnTo>
                <a:lnTo>
                  <a:pt x="18287276" y="456476"/>
                </a:lnTo>
                <a:lnTo>
                  <a:pt x="0" y="456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44000" y="1136145"/>
            <a:ext cx="8778690" cy="6618163"/>
          </a:xfrm>
          <a:custGeom>
            <a:avLst/>
            <a:gdLst/>
            <a:ahLst/>
            <a:cxnLst/>
            <a:rect r="r" b="b" t="t" l="l"/>
            <a:pathLst>
              <a:path h="6618163" w="8778690">
                <a:moveTo>
                  <a:pt x="0" y="0"/>
                </a:moveTo>
                <a:lnTo>
                  <a:pt x="8778690" y="0"/>
                </a:lnTo>
                <a:lnTo>
                  <a:pt x="8778690" y="6618163"/>
                </a:lnTo>
                <a:lnTo>
                  <a:pt x="0" y="6618163"/>
                </a:lnTo>
                <a:lnTo>
                  <a:pt x="0" y="0"/>
                </a:lnTo>
                <a:close/>
              </a:path>
            </a:pathLst>
          </a:custGeom>
          <a:blipFill>
            <a:blip r:embed="rId4"/>
            <a:stretch>
              <a:fillRect l="0" t="0" r="0" b="0"/>
            </a:stretch>
          </a:blipFill>
        </p:spPr>
      </p:sp>
      <p:sp>
        <p:nvSpPr>
          <p:cNvPr name="TextBox 4" id="4"/>
          <p:cNvSpPr txBox="true"/>
          <p:nvPr/>
        </p:nvSpPr>
        <p:spPr>
          <a:xfrm rot="0">
            <a:off x="548640" y="1787100"/>
            <a:ext cx="10941844" cy="2998022"/>
          </a:xfrm>
          <a:prstGeom prst="rect">
            <a:avLst/>
          </a:prstGeom>
        </p:spPr>
        <p:txBody>
          <a:bodyPr anchor="t" rtlCol="false" tIns="0" lIns="0" bIns="0" rIns="0">
            <a:spAutoFit/>
          </a:bodyPr>
          <a:lstStyle/>
          <a:p>
            <a:pPr algn="l">
              <a:lnSpc>
                <a:spcPts val="10800"/>
              </a:lnSpc>
            </a:pPr>
            <a:r>
              <a:rPr lang="en-US" sz="9000" b="true">
                <a:solidFill>
                  <a:srgbClr val="FFFFFF"/>
                </a:solidFill>
                <a:latin typeface="Arimo Bold"/>
                <a:ea typeface="Arimo Bold"/>
                <a:cs typeface="Arimo Bold"/>
                <a:sym typeface="Arimo Bold"/>
              </a:rPr>
              <a:t>Enemies &amp; AI</a:t>
            </a:r>
          </a:p>
        </p:txBody>
      </p:sp>
      <p:sp>
        <p:nvSpPr>
          <p:cNvPr name="TextBox 5" id="5"/>
          <p:cNvSpPr txBox="true"/>
          <p:nvPr/>
        </p:nvSpPr>
        <p:spPr>
          <a:xfrm rot="0">
            <a:off x="457200" y="3393567"/>
            <a:ext cx="7904958" cy="3404617"/>
          </a:xfrm>
          <a:prstGeom prst="rect">
            <a:avLst/>
          </a:prstGeom>
        </p:spPr>
        <p:txBody>
          <a:bodyPr anchor="t" rtlCol="false" tIns="0" lIns="0" bIns="0" rIns="0">
            <a:spAutoFit/>
          </a:bodyPr>
          <a:lstStyle/>
          <a:p>
            <a:pPr algn="ctr">
              <a:lnSpc>
                <a:spcPts val="6807"/>
              </a:lnSpc>
            </a:pPr>
            <a:r>
              <a:rPr lang="en-US" sz="4862">
                <a:solidFill>
                  <a:srgbClr val="FFFFFF"/>
                </a:solidFill>
                <a:latin typeface="Open Sans"/>
                <a:ea typeface="Open Sans"/>
                <a:cs typeface="Open Sans"/>
                <a:sym typeface="Open Sans"/>
              </a:rPr>
              <a:t>Enemies will chase the player down and try to attack. They have 30 HP so they will be easy to defeat</a:t>
            </a:r>
          </a:p>
        </p:txBody>
      </p:sp>
      <p:sp>
        <p:nvSpPr>
          <p:cNvPr name="AutoShape 6" id="6"/>
          <p:cNvSpPr/>
          <p:nvPr/>
        </p:nvSpPr>
        <p:spPr>
          <a:xfrm rot="3719">
            <a:off x="-9535" y="909999"/>
            <a:ext cx="18307783" cy="0"/>
          </a:xfrm>
          <a:prstGeom prst="line">
            <a:avLst/>
          </a:prstGeom>
          <a:ln cap="rnd" w="9525">
            <a:solidFill>
              <a:srgbClr val="FFFFFF"/>
            </a:solidFill>
            <a:prstDash val="solid"/>
            <a:headEnd type="none" len="sm" w="sm"/>
            <a:tailEnd type="none" len="sm" w="sm"/>
          </a:ln>
        </p:spPr>
      </p:sp>
      <p:grpSp>
        <p:nvGrpSpPr>
          <p:cNvPr name="Group 7" id="7"/>
          <p:cNvGrpSpPr/>
          <p:nvPr/>
        </p:nvGrpSpPr>
        <p:grpSpPr>
          <a:xfrm rot="0">
            <a:off x="8143923" y="563042"/>
            <a:ext cx="1999440" cy="341815"/>
            <a:chOff x="0" y="0"/>
            <a:chExt cx="2665920" cy="455753"/>
          </a:xfrm>
        </p:grpSpPr>
        <p:sp>
          <p:nvSpPr>
            <p:cNvPr name="Freeform 8" id="8"/>
            <p:cNvSpPr/>
            <p:nvPr/>
          </p:nvSpPr>
          <p:spPr>
            <a:xfrm flipH="false" flipV="false" rot="0">
              <a:off x="0" y="0"/>
              <a:ext cx="2665920" cy="455758"/>
            </a:xfrm>
            <a:custGeom>
              <a:avLst/>
              <a:gdLst/>
              <a:ahLst/>
              <a:cxnLst/>
              <a:rect r="r" b="b" t="t" l="l"/>
              <a:pathLst>
                <a:path h="455758" w="2665920">
                  <a:moveTo>
                    <a:pt x="0" y="0"/>
                  </a:moveTo>
                  <a:lnTo>
                    <a:pt x="2665920" y="0"/>
                  </a:lnTo>
                  <a:lnTo>
                    <a:pt x="2665920" y="455758"/>
                  </a:lnTo>
                  <a:lnTo>
                    <a:pt x="0" y="455758"/>
                  </a:lnTo>
                  <a:close/>
                </a:path>
              </a:pathLst>
            </a:custGeom>
            <a:blipFill>
              <a:blip r:embed="rId5">
                <a:alphaModFix amt="0"/>
              </a:blip>
              <a:stretch>
                <a:fillRect l="0" t="-78062" r="0" b="-49889"/>
              </a:stretch>
            </a:blipFill>
          </p:spPr>
        </p:sp>
        <p:sp>
          <p:nvSpPr>
            <p:cNvPr name="TextBox 9" id="9"/>
            <p:cNvSpPr txBox="true"/>
            <p:nvPr/>
          </p:nvSpPr>
          <p:spPr>
            <a:xfrm>
              <a:off x="0" y="-19050"/>
              <a:ext cx="2665920" cy="474803"/>
            </a:xfrm>
            <a:prstGeom prst="rect">
              <a:avLst/>
            </a:prstGeom>
          </p:spPr>
          <p:txBody>
            <a:bodyPr anchor="ctr" rtlCol="false" tIns="0" lIns="0" bIns="0" rIns="0"/>
            <a:lstStyle/>
            <a:p>
              <a:pPr algn="ctr">
                <a:lnSpc>
                  <a:spcPts val="1920"/>
                </a:lnSpc>
              </a:pPr>
              <a:r>
                <a:rPr lang="en-US" sz="1600" b="true">
                  <a:solidFill>
                    <a:srgbClr val="FFFFFF"/>
                  </a:solidFill>
                  <a:latin typeface="Arimo Bold"/>
                  <a:ea typeface="Arimo Bold"/>
                  <a:cs typeface="Arimo Bold"/>
                  <a:sym typeface="Arimo Bold"/>
                </a:rPr>
                <a:t>9</a:t>
              </a:r>
            </a:p>
          </p:txBody>
        </p:sp>
      </p:gr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0E1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456476"/>
          </a:xfrm>
          <a:custGeom>
            <a:avLst/>
            <a:gdLst/>
            <a:ahLst/>
            <a:cxnLst/>
            <a:rect r="r" b="b" t="t" l="l"/>
            <a:pathLst>
              <a:path h="456476" w="18287276">
                <a:moveTo>
                  <a:pt x="0" y="0"/>
                </a:moveTo>
                <a:lnTo>
                  <a:pt x="18287276" y="0"/>
                </a:lnTo>
                <a:lnTo>
                  <a:pt x="18287276" y="456476"/>
                </a:lnTo>
                <a:lnTo>
                  <a:pt x="0" y="456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19730" y="5354030"/>
            <a:ext cx="5507647" cy="4598127"/>
          </a:xfrm>
          <a:custGeom>
            <a:avLst/>
            <a:gdLst/>
            <a:ahLst/>
            <a:cxnLst/>
            <a:rect r="r" b="b" t="t" l="l"/>
            <a:pathLst>
              <a:path h="4598127" w="5507647">
                <a:moveTo>
                  <a:pt x="0" y="0"/>
                </a:moveTo>
                <a:lnTo>
                  <a:pt x="5507647" y="0"/>
                </a:lnTo>
                <a:lnTo>
                  <a:pt x="5507647" y="4598127"/>
                </a:lnTo>
                <a:lnTo>
                  <a:pt x="0" y="4598127"/>
                </a:lnTo>
                <a:lnTo>
                  <a:pt x="0" y="0"/>
                </a:lnTo>
                <a:close/>
              </a:path>
            </a:pathLst>
          </a:custGeom>
          <a:blipFill>
            <a:blip r:embed="rId4"/>
            <a:stretch>
              <a:fillRect l="0" t="0" r="0" b="0"/>
            </a:stretch>
          </a:blipFill>
        </p:spPr>
      </p:sp>
      <p:sp>
        <p:nvSpPr>
          <p:cNvPr name="Freeform 4" id="4"/>
          <p:cNvSpPr/>
          <p:nvPr/>
        </p:nvSpPr>
        <p:spPr>
          <a:xfrm flipH="false" flipV="false" rot="0">
            <a:off x="8330257" y="1147649"/>
            <a:ext cx="5603594" cy="4510210"/>
          </a:xfrm>
          <a:custGeom>
            <a:avLst/>
            <a:gdLst/>
            <a:ahLst/>
            <a:cxnLst/>
            <a:rect r="r" b="b" t="t" l="l"/>
            <a:pathLst>
              <a:path h="4510210" w="5603594">
                <a:moveTo>
                  <a:pt x="0" y="0"/>
                </a:moveTo>
                <a:lnTo>
                  <a:pt x="5603594" y="0"/>
                </a:lnTo>
                <a:lnTo>
                  <a:pt x="5603594" y="4510210"/>
                </a:lnTo>
                <a:lnTo>
                  <a:pt x="0" y="4510210"/>
                </a:lnTo>
                <a:lnTo>
                  <a:pt x="0" y="0"/>
                </a:lnTo>
                <a:close/>
              </a:path>
            </a:pathLst>
          </a:custGeom>
          <a:blipFill>
            <a:blip r:embed="rId5"/>
            <a:stretch>
              <a:fillRect l="0" t="0" r="0" b="0"/>
            </a:stretch>
          </a:blipFill>
        </p:spPr>
      </p:sp>
      <p:sp>
        <p:nvSpPr>
          <p:cNvPr name="TextBox 5" id="5"/>
          <p:cNvSpPr txBox="true"/>
          <p:nvPr/>
        </p:nvSpPr>
        <p:spPr>
          <a:xfrm rot="0">
            <a:off x="1043997" y="979227"/>
            <a:ext cx="7055282" cy="1832010"/>
          </a:xfrm>
          <a:prstGeom prst="rect">
            <a:avLst/>
          </a:prstGeom>
        </p:spPr>
        <p:txBody>
          <a:bodyPr anchor="t" rtlCol="false" tIns="0" lIns="0" bIns="0" rIns="0">
            <a:spAutoFit/>
          </a:bodyPr>
          <a:lstStyle/>
          <a:p>
            <a:pPr algn="l">
              <a:lnSpc>
                <a:spcPts val="6240"/>
              </a:lnSpc>
            </a:pPr>
            <a:r>
              <a:rPr lang="en-US" sz="5200" b="true">
                <a:solidFill>
                  <a:srgbClr val="FFFFFF"/>
                </a:solidFill>
                <a:latin typeface="Arimo Bold"/>
                <a:ea typeface="Arimo Bold"/>
                <a:cs typeface="Arimo Bold"/>
                <a:sym typeface="Arimo Bold"/>
              </a:rPr>
              <a:t>Items, Doors &amp; Keys</a:t>
            </a:r>
          </a:p>
        </p:txBody>
      </p:sp>
      <p:sp>
        <p:nvSpPr>
          <p:cNvPr name="TextBox 6" id="6"/>
          <p:cNvSpPr txBox="true"/>
          <p:nvPr/>
        </p:nvSpPr>
        <p:spPr>
          <a:xfrm rot="0">
            <a:off x="1028700" y="2496912"/>
            <a:ext cx="7301557" cy="6007570"/>
          </a:xfrm>
          <a:prstGeom prst="rect">
            <a:avLst/>
          </a:prstGeom>
        </p:spPr>
        <p:txBody>
          <a:bodyPr anchor="t" rtlCol="false" tIns="0" lIns="0" bIns="0" rIns="0">
            <a:spAutoFit/>
          </a:bodyPr>
          <a:lstStyle/>
          <a:p>
            <a:pPr algn="l">
              <a:lnSpc>
                <a:spcPts val="9714"/>
              </a:lnSpc>
            </a:pPr>
            <a:r>
              <a:rPr lang="en-US" sz="5396">
                <a:solidFill>
                  <a:srgbClr val="FFFFFF"/>
                </a:solidFill>
                <a:latin typeface="Roboto"/>
                <a:ea typeface="Roboto"/>
                <a:cs typeface="Roboto"/>
                <a:sym typeface="Roboto"/>
              </a:rPr>
              <a:t>Chests hold keys to open the doors. They are an obstacle, so the player and enemies can’t pass them. </a:t>
            </a:r>
          </a:p>
        </p:txBody>
      </p:sp>
      <p:sp>
        <p:nvSpPr>
          <p:cNvPr name="AutoShape 7" id="7"/>
          <p:cNvSpPr/>
          <p:nvPr/>
        </p:nvSpPr>
        <p:spPr>
          <a:xfrm rot="3719">
            <a:off x="-9535" y="909999"/>
            <a:ext cx="18307783" cy="0"/>
          </a:xfrm>
          <a:prstGeom prst="line">
            <a:avLst/>
          </a:prstGeom>
          <a:ln cap="rnd" w="9525">
            <a:solidFill>
              <a:srgbClr val="FFFFFF"/>
            </a:solidFill>
            <a:prstDash val="solid"/>
            <a:headEnd type="none" len="sm" w="sm"/>
            <a:tailEnd type="none" len="sm" w="sm"/>
          </a:ln>
        </p:spPr>
      </p:sp>
      <p:grpSp>
        <p:nvGrpSpPr>
          <p:cNvPr name="Group 8" id="8"/>
          <p:cNvGrpSpPr/>
          <p:nvPr/>
        </p:nvGrpSpPr>
        <p:grpSpPr>
          <a:xfrm rot="0">
            <a:off x="8143923" y="563042"/>
            <a:ext cx="1999440" cy="341815"/>
            <a:chOff x="0" y="0"/>
            <a:chExt cx="2665920" cy="455753"/>
          </a:xfrm>
        </p:grpSpPr>
        <p:sp>
          <p:nvSpPr>
            <p:cNvPr name="Freeform 9" id="9"/>
            <p:cNvSpPr/>
            <p:nvPr/>
          </p:nvSpPr>
          <p:spPr>
            <a:xfrm flipH="false" flipV="false" rot="0">
              <a:off x="0" y="0"/>
              <a:ext cx="2665920" cy="455758"/>
            </a:xfrm>
            <a:custGeom>
              <a:avLst/>
              <a:gdLst/>
              <a:ahLst/>
              <a:cxnLst/>
              <a:rect r="r" b="b" t="t" l="l"/>
              <a:pathLst>
                <a:path h="455758" w="2665920">
                  <a:moveTo>
                    <a:pt x="0" y="0"/>
                  </a:moveTo>
                  <a:lnTo>
                    <a:pt x="2665920" y="0"/>
                  </a:lnTo>
                  <a:lnTo>
                    <a:pt x="2665920" y="455758"/>
                  </a:lnTo>
                  <a:lnTo>
                    <a:pt x="0" y="455758"/>
                  </a:lnTo>
                  <a:close/>
                </a:path>
              </a:pathLst>
            </a:custGeom>
            <a:blipFill>
              <a:blip r:embed="rId6">
                <a:alphaModFix amt="0"/>
              </a:blip>
              <a:stretch>
                <a:fillRect l="0" t="-78062" r="0" b="-49889"/>
              </a:stretch>
            </a:blipFill>
          </p:spPr>
        </p:sp>
        <p:sp>
          <p:nvSpPr>
            <p:cNvPr name="TextBox 10" id="10"/>
            <p:cNvSpPr txBox="true"/>
            <p:nvPr/>
          </p:nvSpPr>
          <p:spPr>
            <a:xfrm>
              <a:off x="0" y="-19050"/>
              <a:ext cx="2665920" cy="474803"/>
            </a:xfrm>
            <a:prstGeom prst="rect">
              <a:avLst/>
            </a:prstGeom>
          </p:spPr>
          <p:txBody>
            <a:bodyPr anchor="ctr" rtlCol="false" tIns="0" lIns="0" bIns="0" rIns="0"/>
            <a:lstStyle/>
            <a:p>
              <a:pPr algn="ctr">
                <a:lnSpc>
                  <a:spcPts val="1920"/>
                </a:lnSpc>
              </a:pPr>
              <a:r>
                <a:rPr lang="en-US" sz="1600" b="true">
                  <a:solidFill>
                    <a:srgbClr val="FFFFFF"/>
                  </a:solidFill>
                  <a:latin typeface="Arimo Bold"/>
                  <a:ea typeface="Arimo Bold"/>
                  <a:cs typeface="Arimo Bold"/>
                  <a:sym typeface="Arimo Bold"/>
                </a:rPr>
                <a:t>10</a:t>
              </a:r>
            </a:p>
          </p:txBody>
        </p:sp>
      </p:gr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0E1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456476"/>
          </a:xfrm>
          <a:custGeom>
            <a:avLst/>
            <a:gdLst/>
            <a:ahLst/>
            <a:cxnLst/>
            <a:rect r="r" b="b" t="t" l="l"/>
            <a:pathLst>
              <a:path h="456476" w="18287276">
                <a:moveTo>
                  <a:pt x="0" y="0"/>
                </a:moveTo>
                <a:lnTo>
                  <a:pt x="18287276" y="0"/>
                </a:lnTo>
                <a:lnTo>
                  <a:pt x="18287276" y="456476"/>
                </a:lnTo>
                <a:lnTo>
                  <a:pt x="0" y="456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668470" y="2020631"/>
            <a:ext cx="9161606" cy="7237669"/>
          </a:xfrm>
          <a:custGeom>
            <a:avLst/>
            <a:gdLst/>
            <a:ahLst/>
            <a:cxnLst/>
            <a:rect r="r" b="b" t="t" l="l"/>
            <a:pathLst>
              <a:path h="7237669" w="9161606">
                <a:moveTo>
                  <a:pt x="0" y="0"/>
                </a:moveTo>
                <a:lnTo>
                  <a:pt x="9161606" y="0"/>
                </a:lnTo>
                <a:lnTo>
                  <a:pt x="9161606" y="7237669"/>
                </a:lnTo>
                <a:lnTo>
                  <a:pt x="0" y="7237669"/>
                </a:lnTo>
                <a:lnTo>
                  <a:pt x="0" y="0"/>
                </a:lnTo>
                <a:close/>
              </a:path>
            </a:pathLst>
          </a:custGeom>
          <a:blipFill>
            <a:blip r:embed="rId4"/>
            <a:stretch>
              <a:fillRect l="0" t="0" r="0" b="0"/>
            </a:stretch>
          </a:blipFill>
        </p:spPr>
      </p:sp>
      <p:sp>
        <p:nvSpPr>
          <p:cNvPr name="TextBox 4" id="4"/>
          <p:cNvSpPr txBox="true"/>
          <p:nvPr/>
        </p:nvSpPr>
        <p:spPr>
          <a:xfrm rot="0">
            <a:off x="548640" y="1787100"/>
            <a:ext cx="10941844" cy="2998022"/>
          </a:xfrm>
          <a:prstGeom prst="rect">
            <a:avLst/>
          </a:prstGeom>
        </p:spPr>
        <p:txBody>
          <a:bodyPr anchor="t" rtlCol="false" tIns="0" lIns="0" bIns="0" rIns="0">
            <a:spAutoFit/>
          </a:bodyPr>
          <a:lstStyle/>
          <a:p>
            <a:pPr algn="l">
              <a:lnSpc>
                <a:spcPts val="10800"/>
              </a:lnSpc>
            </a:pPr>
            <a:r>
              <a:rPr lang="en-US" sz="9000" b="true">
                <a:solidFill>
                  <a:srgbClr val="FFFFFF"/>
                </a:solidFill>
                <a:latin typeface="Arimo Bold"/>
                <a:ea typeface="Arimo Bold"/>
                <a:cs typeface="Arimo Bold"/>
                <a:sym typeface="Arimo Bold"/>
              </a:rPr>
              <a:t>Conclusions</a:t>
            </a:r>
          </a:p>
        </p:txBody>
      </p:sp>
      <p:sp>
        <p:nvSpPr>
          <p:cNvPr name="TextBox 5" id="5"/>
          <p:cNvSpPr txBox="true"/>
          <p:nvPr/>
        </p:nvSpPr>
        <p:spPr>
          <a:xfrm rot="0">
            <a:off x="595491" y="4171370"/>
            <a:ext cx="7548431" cy="4180840"/>
          </a:xfrm>
          <a:prstGeom prst="rect">
            <a:avLst/>
          </a:prstGeom>
        </p:spPr>
        <p:txBody>
          <a:bodyPr anchor="t" rtlCol="false" tIns="0" lIns="0" bIns="0" rIns="0">
            <a:spAutoFit/>
          </a:bodyPr>
          <a:lstStyle/>
          <a:p>
            <a:pPr algn="ctr">
              <a:lnSpc>
                <a:spcPts val="4759"/>
              </a:lnSpc>
            </a:pPr>
            <a:r>
              <a:rPr lang="en-US" sz="3399">
                <a:solidFill>
                  <a:srgbClr val="FFFFFF"/>
                </a:solidFill>
                <a:latin typeface="Open Sans"/>
                <a:ea typeface="Open Sans"/>
                <a:cs typeface="Open Sans"/>
                <a:sym typeface="Open Sans"/>
              </a:rPr>
              <a:t>The game is simple, yet pretty fun to play. The game GUI and logic were inspired from Pacman, featuring enemies chasing players and collecting items. There are lots of features that can be added to the game so the game is also expandable</a:t>
            </a:r>
          </a:p>
        </p:txBody>
      </p:sp>
      <p:sp>
        <p:nvSpPr>
          <p:cNvPr name="AutoShape 6" id="6"/>
          <p:cNvSpPr/>
          <p:nvPr/>
        </p:nvSpPr>
        <p:spPr>
          <a:xfrm rot="3719">
            <a:off x="-9535" y="909999"/>
            <a:ext cx="18307783" cy="0"/>
          </a:xfrm>
          <a:prstGeom prst="line">
            <a:avLst/>
          </a:prstGeom>
          <a:ln cap="rnd" w="9525">
            <a:solidFill>
              <a:srgbClr val="FFFFFF"/>
            </a:solidFill>
            <a:prstDash val="solid"/>
            <a:headEnd type="none" len="sm" w="sm"/>
            <a:tailEnd type="none" len="sm" w="sm"/>
          </a:ln>
        </p:spPr>
      </p:sp>
      <p:grpSp>
        <p:nvGrpSpPr>
          <p:cNvPr name="Group 7" id="7"/>
          <p:cNvGrpSpPr/>
          <p:nvPr/>
        </p:nvGrpSpPr>
        <p:grpSpPr>
          <a:xfrm rot="0">
            <a:off x="8143923" y="563042"/>
            <a:ext cx="1999440" cy="341815"/>
            <a:chOff x="0" y="0"/>
            <a:chExt cx="2665920" cy="455753"/>
          </a:xfrm>
        </p:grpSpPr>
        <p:sp>
          <p:nvSpPr>
            <p:cNvPr name="Freeform 8" id="8"/>
            <p:cNvSpPr/>
            <p:nvPr/>
          </p:nvSpPr>
          <p:spPr>
            <a:xfrm flipH="false" flipV="false" rot="0">
              <a:off x="0" y="0"/>
              <a:ext cx="2665920" cy="455758"/>
            </a:xfrm>
            <a:custGeom>
              <a:avLst/>
              <a:gdLst/>
              <a:ahLst/>
              <a:cxnLst/>
              <a:rect r="r" b="b" t="t" l="l"/>
              <a:pathLst>
                <a:path h="455758" w="2665920">
                  <a:moveTo>
                    <a:pt x="0" y="0"/>
                  </a:moveTo>
                  <a:lnTo>
                    <a:pt x="2665920" y="0"/>
                  </a:lnTo>
                  <a:lnTo>
                    <a:pt x="2665920" y="455758"/>
                  </a:lnTo>
                  <a:lnTo>
                    <a:pt x="0" y="455758"/>
                  </a:lnTo>
                  <a:close/>
                </a:path>
              </a:pathLst>
            </a:custGeom>
            <a:blipFill>
              <a:blip r:embed="rId5">
                <a:alphaModFix amt="0"/>
              </a:blip>
              <a:stretch>
                <a:fillRect l="0" t="-78062" r="0" b="-49889"/>
              </a:stretch>
            </a:blipFill>
          </p:spPr>
        </p:sp>
        <p:sp>
          <p:nvSpPr>
            <p:cNvPr name="TextBox 9" id="9"/>
            <p:cNvSpPr txBox="true"/>
            <p:nvPr/>
          </p:nvSpPr>
          <p:spPr>
            <a:xfrm>
              <a:off x="0" y="-19050"/>
              <a:ext cx="2665920" cy="474803"/>
            </a:xfrm>
            <a:prstGeom prst="rect">
              <a:avLst/>
            </a:prstGeom>
          </p:spPr>
          <p:txBody>
            <a:bodyPr anchor="ctr" rtlCol="false" tIns="0" lIns="0" bIns="0" rIns="0"/>
            <a:lstStyle/>
            <a:p>
              <a:pPr algn="ctr">
                <a:lnSpc>
                  <a:spcPts val="1920"/>
                </a:lnSpc>
              </a:pPr>
              <a:r>
                <a:rPr lang="en-US" sz="1600" b="true">
                  <a:solidFill>
                    <a:srgbClr val="FFFFFF"/>
                  </a:solidFill>
                  <a:latin typeface="Arimo Bold"/>
                  <a:ea typeface="Arimo Bold"/>
                  <a:cs typeface="Arimo Bold"/>
                  <a:sym typeface="Arimo Bold"/>
                </a:rPr>
                <a:t>11</a:t>
              </a:r>
            </a:p>
          </p:txBody>
        </p:sp>
      </p:gr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0E1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7276" cy="456476"/>
          </a:xfrm>
          <a:custGeom>
            <a:avLst/>
            <a:gdLst/>
            <a:ahLst/>
            <a:cxnLst/>
            <a:rect r="r" b="b" t="t" l="l"/>
            <a:pathLst>
              <a:path h="456476" w="18287276">
                <a:moveTo>
                  <a:pt x="0" y="0"/>
                </a:moveTo>
                <a:lnTo>
                  <a:pt x="18287276" y="0"/>
                </a:lnTo>
                <a:lnTo>
                  <a:pt x="18287276" y="456476"/>
                </a:lnTo>
                <a:lnTo>
                  <a:pt x="0" y="456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47602" y="1631124"/>
            <a:ext cx="11992071" cy="2939951"/>
            <a:chOff x="0" y="0"/>
            <a:chExt cx="15989428" cy="3919934"/>
          </a:xfrm>
        </p:grpSpPr>
        <p:sp>
          <p:nvSpPr>
            <p:cNvPr name="Freeform 4" id="4"/>
            <p:cNvSpPr/>
            <p:nvPr/>
          </p:nvSpPr>
          <p:spPr>
            <a:xfrm flipH="false" flipV="false" rot="0">
              <a:off x="0" y="0"/>
              <a:ext cx="15989419" cy="3919933"/>
            </a:xfrm>
            <a:custGeom>
              <a:avLst/>
              <a:gdLst/>
              <a:ahLst/>
              <a:cxnLst/>
              <a:rect r="r" b="b" t="t" l="l"/>
              <a:pathLst>
                <a:path h="3919933" w="15989419">
                  <a:moveTo>
                    <a:pt x="0" y="0"/>
                  </a:moveTo>
                  <a:lnTo>
                    <a:pt x="15989419" y="0"/>
                  </a:lnTo>
                  <a:lnTo>
                    <a:pt x="15989419" y="3919933"/>
                  </a:lnTo>
                  <a:lnTo>
                    <a:pt x="0" y="3919933"/>
                  </a:lnTo>
                  <a:close/>
                </a:path>
              </a:pathLst>
            </a:custGeom>
            <a:blipFill>
              <a:blip r:embed="rId4">
                <a:alphaModFix amt="0"/>
              </a:blip>
              <a:stretch>
                <a:fillRect l="-21742" t="0" r="19010" b="-63300"/>
              </a:stretch>
            </a:blipFill>
          </p:spPr>
        </p:sp>
        <p:sp>
          <p:nvSpPr>
            <p:cNvPr name="TextBox 5" id="5"/>
            <p:cNvSpPr txBox="true"/>
            <p:nvPr/>
          </p:nvSpPr>
          <p:spPr>
            <a:xfrm>
              <a:off x="0" y="-47625"/>
              <a:ext cx="15989428" cy="3967559"/>
            </a:xfrm>
            <a:prstGeom prst="rect">
              <a:avLst/>
            </a:prstGeom>
          </p:spPr>
          <p:txBody>
            <a:bodyPr anchor="b" rtlCol="false" tIns="0" lIns="0" bIns="0" rIns="0"/>
            <a:lstStyle/>
            <a:p>
              <a:pPr algn="l">
                <a:lnSpc>
                  <a:spcPts val="17280"/>
                </a:lnSpc>
              </a:pPr>
              <a:r>
                <a:rPr lang="en-US" sz="14400" b="true">
                  <a:solidFill>
                    <a:srgbClr val="FFFFFF"/>
                  </a:solidFill>
                  <a:latin typeface="Arimo Bold"/>
                  <a:ea typeface="Arimo Bold"/>
                  <a:cs typeface="Arimo Bold"/>
                  <a:sym typeface="Arimo Bold"/>
                </a:rPr>
                <a:t>Thank  you!</a:t>
              </a:r>
            </a:p>
          </p:txBody>
        </p:sp>
      </p:grpSp>
      <p:sp>
        <p:nvSpPr>
          <p:cNvPr name="TextBox 6" id="6"/>
          <p:cNvSpPr txBox="true"/>
          <p:nvPr/>
        </p:nvSpPr>
        <p:spPr>
          <a:xfrm rot="0">
            <a:off x="4525466" y="5269816"/>
            <a:ext cx="9237067" cy="4479509"/>
          </a:xfrm>
          <a:prstGeom prst="rect">
            <a:avLst/>
          </a:prstGeom>
        </p:spPr>
        <p:txBody>
          <a:bodyPr anchor="t" rtlCol="false" tIns="0" lIns="0" bIns="0" rIns="0">
            <a:spAutoFit/>
          </a:bodyPr>
          <a:lstStyle/>
          <a:p>
            <a:pPr algn="ctr">
              <a:lnSpc>
                <a:spcPts val="8898"/>
              </a:lnSpc>
            </a:pPr>
            <a:r>
              <a:rPr lang="en-US" b="true" sz="6355">
                <a:solidFill>
                  <a:srgbClr val="FFFFFF"/>
                </a:solidFill>
                <a:latin typeface="Open Sans Bold"/>
                <a:ea typeface="Open Sans Bold"/>
                <a:cs typeface="Open Sans Bold"/>
                <a:sym typeface="Open Sans Bold"/>
              </a:rPr>
              <a:t>Sabuhi GARIBOV</a:t>
            </a:r>
          </a:p>
          <a:p>
            <a:pPr algn="ctr">
              <a:lnSpc>
                <a:spcPts val="8898"/>
              </a:lnSpc>
            </a:pPr>
            <a:r>
              <a:rPr lang="en-US" b="true" sz="6355">
                <a:solidFill>
                  <a:srgbClr val="FFFFFF"/>
                </a:solidFill>
                <a:latin typeface="Open Sans Bold"/>
                <a:ea typeface="Open Sans Bold"/>
                <a:cs typeface="Open Sans Bold"/>
                <a:sym typeface="Open Sans Bold"/>
              </a:rPr>
              <a:t>Yusif KHALAFLI</a:t>
            </a:r>
          </a:p>
          <a:p>
            <a:pPr algn="ctr">
              <a:lnSpc>
                <a:spcPts val="8898"/>
              </a:lnSpc>
            </a:pPr>
            <a:r>
              <a:rPr lang="en-US" b="true" sz="6355">
                <a:solidFill>
                  <a:srgbClr val="FFFFFF"/>
                </a:solidFill>
                <a:latin typeface="Open Sans Bold"/>
                <a:ea typeface="Open Sans Bold"/>
                <a:cs typeface="Open Sans Bold"/>
                <a:sym typeface="Open Sans Bold"/>
              </a:rPr>
              <a:t>Famil GULMAMMADOV</a:t>
            </a:r>
          </a:p>
          <a:p>
            <a:pPr algn="ctr">
              <a:lnSpc>
                <a:spcPts val="8898"/>
              </a:lnSpc>
            </a:pPr>
            <a:r>
              <a:rPr lang="en-US" b="true" sz="6355">
                <a:solidFill>
                  <a:srgbClr val="FFFFFF"/>
                </a:solidFill>
                <a:latin typeface="Open Sans Bold"/>
                <a:ea typeface="Open Sans Bold"/>
                <a:cs typeface="Open Sans Bold"/>
                <a:sym typeface="Open Sans Bold"/>
              </a:rPr>
              <a:t>Daniil KUCHINSKI.</a:t>
            </a:r>
          </a:p>
        </p:txBody>
      </p:sp>
      <p:sp>
        <p:nvSpPr>
          <p:cNvPr name="AutoShape 7" id="7"/>
          <p:cNvSpPr/>
          <p:nvPr/>
        </p:nvSpPr>
        <p:spPr>
          <a:xfrm rot="3719">
            <a:off x="-9535" y="909999"/>
            <a:ext cx="18307783" cy="0"/>
          </a:xfrm>
          <a:prstGeom prst="line">
            <a:avLst/>
          </a:prstGeom>
          <a:ln cap="rnd" w="9525">
            <a:solidFill>
              <a:srgbClr val="FFFFFF"/>
            </a:solidFill>
            <a:prstDash val="solid"/>
            <a:headEnd type="none" len="sm" w="sm"/>
            <a:tailEnd type="none" len="sm" w="sm"/>
          </a:ln>
        </p:spPr>
      </p:sp>
      <p:grpSp>
        <p:nvGrpSpPr>
          <p:cNvPr name="Group 8" id="8"/>
          <p:cNvGrpSpPr/>
          <p:nvPr/>
        </p:nvGrpSpPr>
        <p:grpSpPr>
          <a:xfrm rot="0">
            <a:off x="8134398" y="563042"/>
            <a:ext cx="1999440" cy="341815"/>
            <a:chOff x="0" y="0"/>
            <a:chExt cx="2665920" cy="455753"/>
          </a:xfrm>
        </p:grpSpPr>
        <p:sp>
          <p:nvSpPr>
            <p:cNvPr name="Freeform 9" id="9"/>
            <p:cNvSpPr/>
            <p:nvPr/>
          </p:nvSpPr>
          <p:spPr>
            <a:xfrm flipH="false" flipV="false" rot="0">
              <a:off x="0" y="0"/>
              <a:ext cx="2665920" cy="455758"/>
            </a:xfrm>
            <a:custGeom>
              <a:avLst/>
              <a:gdLst/>
              <a:ahLst/>
              <a:cxnLst/>
              <a:rect r="r" b="b" t="t" l="l"/>
              <a:pathLst>
                <a:path h="455758" w="2665920">
                  <a:moveTo>
                    <a:pt x="0" y="0"/>
                  </a:moveTo>
                  <a:lnTo>
                    <a:pt x="2665920" y="0"/>
                  </a:lnTo>
                  <a:lnTo>
                    <a:pt x="2665920" y="455758"/>
                  </a:lnTo>
                  <a:lnTo>
                    <a:pt x="0" y="455758"/>
                  </a:lnTo>
                  <a:close/>
                </a:path>
              </a:pathLst>
            </a:custGeom>
            <a:blipFill>
              <a:blip r:embed="rId4">
                <a:alphaModFix amt="0"/>
              </a:blip>
              <a:stretch>
                <a:fillRect l="0" t="-78062" r="0" b="-49889"/>
              </a:stretch>
            </a:blipFill>
          </p:spPr>
        </p:sp>
        <p:sp>
          <p:nvSpPr>
            <p:cNvPr name="TextBox 10" id="10"/>
            <p:cNvSpPr txBox="true"/>
            <p:nvPr/>
          </p:nvSpPr>
          <p:spPr>
            <a:xfrm>
              <a:off x="0" y="-19050"/>
              <a:ext cx="2665920" cy="474803"/>
            </a:xfrm>
            <a:prstGeom prst="rect">
              <a:avLst/>
            </a:prstGeom>
          </p:spPr>
          <p:txBody>
            <a:bodyPr anchor="ctr" rtlCol="false" tIns="0" lIns="0" bIns="0" rIns="0"/>
            <a:lstStyle/>
            <a:p>
              <a:pPr algn="ctr">
                <a:lnSpc>
                  <a:spcPts val="1920"/>
                </a:lnSpc>
              </a:pPr>
              <a:r>
                <a:rPr lang="en-US" sz="1600" b="true">
                  <a:solidFill>
                    <a:srgbClr val="FFFFFF"/>
                  </a:solidFill>
                  <a:latin typeface="Arimo Bold"/>
                  <a:ea typeface="Arimo Bold"/>
                  <a:cs typeface="Arimo Bold"/>
                  <a:sym typeface="Arimo Bold"/>
                </a:rPr>
                <a:t>12</a:t>
              </a:r>
            </a:p>
          </p:txBody>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DAHJd4ENw5c</dc:identifier>
  <dcterms:modified xsi:type="dcterms:W3CDTF">2011-08-01T06:04:30Z</dcterms:modified>
  <cp:revision>1</cp:revision>
  <dc:title>Dungeon Crawler.pptx</dc:title>
</cp:coreProperties>
</file>